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75" r:id="rId1"/>
    <p:sldMasterId id="2147483694" r:id="rId2"/>
  </p:sldMasterIdLst>
  <p:notesMasterIdLst>
    <p:notesMasterId r:id="rId17"/>
  </p:notesMasterIdLst>
  <p:handoutMasterIdLst>
    <p:handoutMasterId r:id="rId18"/>
  </p:handoutMasterIdLst>
  <p:sldIdLst>
    <p:sldId id="753" r:id="rId3"/>
    <p:sldId id="759" r:id="rId4"/>
    <p:sldId id="762" r:id="rId5"/>
    <p:sldId id="763" r:id="rId6"/>
    <p:sldId id="766" r:id="rId7"/>
    <p:sldId id="767" r:id="rId8"/>
    <p:sldId id="764" r:id="rId9"/>
    <p:sldId id="770" r:id="rId10"/>
    <p:sldId id="765" r:id="rId11"/>
    <p:sldId id="768" r:id="rId12"/>
    <p:sldId id="769" r:id="rId13"/>
    <p:sldId id="771" r:id="rId14"/>
    <p:sldId id="772" r:id="rId15"/>
    <p:sldId id="774" r:id="rId16"/>
  </p:sldIdLst>
  <p:sldSz cx="9144000" cy="6858000" type="screen4x3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ng-Hoon Kim" initials="Y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5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57" autoAdjust="0"/>
    <p:restoredTop sz="96405" autoAdjust="0"/>
  </p:normalViewPr>
  <p:slideViewPr>
    <p:cSldViewPr showGuides="1">
      <p:cViewPr varScale="1">
        <p:scale>
          <a:sx n="108" d="100"/>
          <a:sy n="108" d="100"/>
        </p:scale>
        <p:origin x="84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16" d="100"/>
          <a:sy n="116" d="100"/>
        </p:scale>
        <p:origin x="21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409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409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80689-640A-6B4C-90FA-ADFF5B7514F1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98"/>
            <a:ext cx="4279918" cy="3409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027" y="6456698"/>
            <a:ext cx="4279918" cy="3409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89E0A2-1D82-644A-8F14-C408B13B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0686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3125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1EF9B-4BEA-4144-A8EF-0C527B936D92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6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3125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22CF7-E356-487D-9AE8-2619F13D4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379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rgbClr val="800080"/>
              </a:buClr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fld id="{4BA96BD6-E52C-4EDF-A29B-026660E7C4A3}" type="slidenum">
              <a:rPr lang="ko-KR" altLang="en-US">
                <a:solidFill>
                  <a:prstClr val="black"/>
                </a:solidFill>
              </a:rPr>
              <a:pPr latinLnBrk="1"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034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-2346"/>
            <a:ext cx="6552728" cy="5444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200" b="1">
                <a:solidFill>
                  <a:srgbClr val="0070C0"/>
                </a:solidFill>
                <a:latin typeface="+mn-lt"/>
                <a:cs typeface="Calibri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5192" y="1124744"/>
            <a:ext cx="8435280" cy="518457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>
                <a:latin typeface="Calibri" panose="020F0502020204030204" pitchFamily="34" charset="0"/>
              </a:defRPr>
            </a:lvl1pPr>
            <a:lvl2pPr marL="914400" indent="-457200">
              <a:buFont typeface="+mj-lt"/>
              <a:buAutoNum type="alphaLcPeriod"/>
              <a:defRPr sz="1800">
                <a:latin typeface="Calibri" panose="020F050202020403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400">
                <a:latin typeface="Calibri" panose="020F0502020204030204" pitchFamily="34" charset="0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400">
                <a:latin typeface="Calibri" panose="020F050202020403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496" y="6453336"/>
            <a:ext cx="1656184" cy="365125"/>
          </a:xfrm>
          <a:prstGeom prst="rect">
            <a:avLst/>
          </a:prstGeom>
        </p:spPr>
        <p:txBody>
          <a:bodyPr anchor="b"/>
          <a:lstStyle>
            <a:lvl1pPr algn="l">
              <a:defRPr sz="1400">
                <a:latin typeface="Constantia" panose="02030602050306030303" pitchFamily="18" charset="0"/>
              </a:defRPr>
            </a:lvl1pPr>
          </a:lstStyle>
          <a:p>
            <a:pPr latinLnBrk="1"/>
            <a:fld id="{4BA96BD6-E52C-4EDF-A29B-026660E7C4A3}" type="slidenum">
              <a:rPr lang="ko-KR" altLang="en-US" smtClean="0">
                <a:solidFill>
                  <a:prstClr val="black"/>
                </a:solidFill>
              </a:rPr>
              <a:pPr latinLnBrk="1"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022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각론 템플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-2346"/>
            <a:ext cx="6552728" cy="5444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200" b="1">
                <a:solidFill>
                  <a:srgbClr val="0070C0"/>
                </a:solidFill>
                <a:latin typeface="+mn-lt"/>
                <a:cs typeface="Calibri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5192" y="1124744"/>
            <a:ext cx="8435280" cy="518457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lphaLcPeriod"/>
              <a:defRPr sz="2000">
                <a:latin typeface="Calibri" panose="020F0502020204030204" pitchFamily="34" charset="0"/>
              </a:defRPr>
            </a:lvl1pPr>
            <a:lvl2pPr marL="914400" indent="-457200">
              <a:buFont typeface="Wingdings" panose="05000000000000000000" pitchFamily="2" charset="2"/>
              <a:buChar char="Ø"/>
              <a:defRPr sz="1800">
                <a:latin typeface="Calibri" panose="020F050202020403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400">
                <a:latin typeface="Calibri" panose="020F0502020204030204" pitchFamily="34" charset="0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400">
                <a:latin typeface="Calibri" panose="020F050202020403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496" y="6453336"/>
            <a:ext cx="1656184" cy="365125"/>
          </a:xfrm>
          <a:prstGeom prst="rect">
            <a:avLst/>
          </a:prstGeom>
        </p:spPr>
        <p:txBody>
          <a:bodyPr anchor="b"/>
          <a:lstStyle>
            <a:lvl1pPr algn="l">
              <a:defRPr sz="1400">
                <a:latin typeface="Constantia" panose="02030602050306030303" pitchFamily="18" charset="0"/>
              </a:defRPr>
            </a:lvl1pPr>
          </a:lstStyle>
          <a:p>
            <a:pPr latinLnBrk="1"/>
            <a:fld id="{4BA96BD6-E52C-4EDF-A29B-026660E7C4A3}" type="slidenum">
              <a:rPr lang="ko-KR" altLang="en-US" smtClean="0">
                <a:solidFill>
                  <a:prstClr val="black"/>
                </a:solidFill>
              </a:rPr>
              <a:pPr latinLnBrk="1"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530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-2346"/>
            <a:ext cx="6552728" cy="5444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200" b="1">
                <a:solidFill>
                  <a:srgbClr val="0070C0"/>
                </a:solidFill>
                <a:latin typeface="+mn-lt"/>
                <a:cs typeface="Calibri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496" y="6453336"/>
            <a:ext cx="1656184" cy="365125"/>
          </a:xfrm>
          <a:prstGeom prst="rect">
            <a:avLst/>
          </a:prstGeom>
        </p:spPr>
        <p:txBody>
          <a:bodyPr anchor="b"/>
          <a:lstStyle>
            <a:lvl1pPr algn="l">
              <a:defRPr sz="1400">
                <a:latin typeface="Constantia" panose="02030602050306030303" pitchFamily="18" charset="0"/>
              </a:defRPr>
            </a:lvl1pPr>
          </a:lstStyle>
          <a:p>
            <a:pPr latinLnBrk="1"/>
            <a:fld id="{4BA96BD6-E52C-4EDF-A29B-026660E7C4A3}" type="slidenum">
              <a:rPr lang="ko-KR" altLang="en-US" smtClean="0">
                <a:solidFill>
                  <a:prstClr val="black"/>
                </a:solidFill>
              </a:rPr>
              <a:pPr latinLnBrk="1"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664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-2346"/>
            <a:ext cx="6552728" cy="5444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000" b="1">
                <a:solidFill>
                  <a:srgbClr val="0070C0"/>
                </a:solidFill>
                <a:latin typeface="+mn-lt"/>
                <a:cs typeface="Calibri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5192" y="1124744"/>
            <a:ext cx="8435280" cy="5184576"/>
          </a:xfrm>
        </p:spPr>
        <p:txBody>
          <a:bodyPr>
            <a:normAutofit/>
          </a:bodyPr>
          <a:lstStyle>
            <a:lvl1pPr>
              <a:defRPr sz="2000">
                <a:latin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2000">
                <a:latin typeface="Calibri" panose="020F0502020204030204" pitchFamily="34" charset="0"/>
              </a:defRPr>
            </a:lvl4pPr>
            <a:lvl5pPr>
              <a:defRPr sz="2000">
                <a:latin typeface="Calibri" panose="020F050202020403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496" y="6453336"/>
            <a:ext cx="1656184" cy="365125"/>
          </a:xfrm>
          <a:prstGeom prst="rect">
            <a:avLst/>
          </a:prstGeom>
        </p:spPr>
        <p:txBody>
          <a:bodyPr anchor="b"/>
          <a:lstStyle>
            <a:lvl1pPr algn="l">
              <a:defRPr sz="1400">
                <a:latin typeface="Constantia" panose="02030602050306030303" pitchFamily="18" charset="0"/>
              </a:defRPr>
            </a:lvl1pPr>
          </a:lstStyle>
          <a:p>
            <a:pPr latinLnBrk="1"/>
            <a:fld id="{4BA96BD6-E52C-4EDF-A29B-026660E7C4A3}" type="slidenum">
              <a:rPr lang="ko-KR" altLang="en-US" smtClean="0">
                <a:solidFill>
                  <a:prstClr val="black"/>
                </a:solidFill>
              </a:rPr>
              <a:pPr latinLnBrk="1"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863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rgbClr val="800080"/>
              </a:buClr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fld id="{4BA96BD6-E52C-4EDF-A29B-026660E7C4A3}" type="slidenum">
              <a:rPr lang="ko-KR" altLang="en-US">
                <a:solidFill>
                  <a:prstClr val="black"/>
                </a:solidFill>
              </a:rPr>
              <a:pPr latinLnBrk="1"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162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rgbClr val="800080"/>
              </a:buClr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fld id="{4BA96BD6-E52C-4EDF-A29B-026660E7C4A3}" type="slidenum">
              <a:rPr lang="ko-KR" altLang="en-US">
                <a:solidFill>
                  <a:prstClr val="black"/>
                </a:solidFill>
              </a:rPr>
              <a:pPr latinLnBrk="1"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575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rgbClr val="800080"/>
              </a:buClr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fld id="{4BA96BD6-E52C-4EDF-A29B-026660E7C4A3}" type="slidenum">
              <a:rPr lang="ko-KR" altLang="en-US">
                <a:solidFill>
                  <a:prstClr val="black"/>
                </a:solidFill>
              </a:rPr>
              <a:pPr latinLnBrk="1"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513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rgbClr val="800080"/>
              </a:buClr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fld id="{4BA96BD6-E52C-4EDF-A29B-026660E7C4A3}" type="slidenum">
              <a:rPr lang="ko-KR" altLang="en-US">
                <a:solidFill>
                  <a:prstClr val="black"/>
                </a:solidFill>
              </a:rPr>
              <a:pPr latinLnBrk="1"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167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rgbClr val="800080"/>
              </a:buClr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fld id="{4BA96BD6-E52C-4EDF-A29B-026660E7C4A3}" type="slidenum">
              <a:rPr lang="ko-KR" altLang="en-US">
                <a:solidFill>
                  <a:prstClr val="black"/>
                </a:solidFill>
              </a:rPr>
              <a:pPr latinLnBrk="1"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751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rgbClr val="800080"/>
              </a:buClr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fld id="{4BA96BD6-E52C-4EDF-A29B-026660E7C4A3}" type="slidenum">
              <a:rPr lang="ko-KR" altLang="en-US">
                <a:solidFill>
                  <a:prstClr val="black"/>
                </a:solidFill>
              </a:rPr>
              <a:pPr latinLnBrk="1"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11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rgbClr val="800080"/>
              </a:buClr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fld id="{4BA96BD6-E52C-4EDF-A29B-026660E7C4A3}" type="slidenum">
              <a:rPr lang="ko-KR" altLang="en-US">
                <a:solidFill>
                  <a:prstClr val="black"/>
                </a:solidFill>
              </a:rPr>
              <a:pPr latinLnBrk="1"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063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rgbClr val="800080"/>
              </a:buClr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fld id="{4BA96BD6-E52C-4EDF-A29B-026660E7C4A3}" type="slidenum">
              <a:rPr lang="ko-KR" altLang="en-US">
                <a:solidFill>
                  <a:prstClr val="black"/>
                </a:solidFill>
              </a:rPr>
              <a:pPr latinLnBrk="1"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166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rgbClr val="800080"/>
              </a:buClr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atinLnBrk="1"/>
            <a:fld id="{4BA96BD6-E52C-4EDF-A29B-026660E7C4A3}" type="slidenum">
              <a:rPr lang="ko-KR" altLang="en-US">
                <a:solidFill>
                  <a:prstClr val="black"/>
                </a:solidFill>
              </a:rPr>
              <a:pPr latinLnBrk="1"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948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1"/>
            <a:ext cx="285720" cy="6858000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70000"/>
              <a:buFont typeface="Wingdings"/>
              <a:buChar char=""/>
              <a:defRPr/>
            </a:lvl1pPr>
            <a:lvl2pPr>
              <a:buSzPct val="120000"/>
              <a:defRPr/>
            </a:lvl2pPr>
            <a:lvl3pPr>
              <a:buSzPct val="120000"/>
              <a:defRPr/>
            </a:lvl3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572272"/>
            <a:ext cx="2133600" cy="28575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572272"/>
            <a:ext cx="2133600" cy="285752"/>
          </a:xfrm>
          <a:prstGeom prst="rect">
            <a:avLst/>
          </a:prstGeom>
        </p:spPr>
        <p:txBody>
          <a:bodyPr/>
          <a:lstStyle/>
          <a:p>
            <a:fld id="{267BB5C8-87DE-554D-82EC-54A76FD0F4E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3475" y="146384"/>
            <a:ext cx="8554805" cy="93978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9144000" cy="287338"/>
          </a:xfrm>
        </p:spPr>
        <p:txBody>
          <a:bodyPr>
            <a:noAutofit/>
          </a:bodyPr>
          <a:lstStyle>
            <a:lvl5pPr algn="r">
              <a:defRPr sz="1400">
                <a:solidFill>
                  <a:schemeClr val="bg1"/>
                </a:solidFill>
              </a:defRPr>
            </a:lvl5pPr>
          </a:lstStyle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408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1"/>
            <a:ext cx="285720" cy="6858000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70000"/>
              <a:buFont typeface="Wingdings"/>
              <a:buChar char=""/>
              <a:defRPr/>
            </a:lvl1pPr>
            <a:lvl2pPr>
              <a:buSzPct val="120000"/>
              <a:defRPr/>
            </a:lvl2pPr>
            <a:lvl3pPr>
              <a:buSzPct val="120000"/>
              <a:defRPr/>
            </a:lvl3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572272"/>
            <a:ext cx="2133600" cy="28575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572272"/>
            <a:ext cx="2133600" cy="285752"/>
          </a:xfrm>
          <a:prstGeom prst="rect">
            <a:avLst/>
          </a:prstGeom>
        </p:spPr>
        <p:txBody>
          <a:bodyPr/>
          <a:lstStyle/>
          <a:p>
            <a:fld id="{267BB5C8-87DE-554D-82EC-54A76FD0F4E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3475" y="146384"/>
            <a:ext cx="8554805" cy="93978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9144000" cy="287338"/>
          </a:xfrm>
        </p:spPr>
        <p:txBody>
          <a:bodyPr>
            <a:noAutofit/>
          </a:bodyPr>
          <a:lstStyle>
            <a:lvl5pPr algn="r">
              <a:defRPr sz="1400">
                <a:solidFill>
                  <a:schemeClr val="bg1"/>
                </a:solidFill>
              </a:defRPr>
            </a:lvl5pPr>
          </a:lstStyle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581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1"/>
            <a:ext cx="285720" cy="6858000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70000"/>
              <a:buFont typeface="Wingdings"/>
              <a:buChar char=""/>
              <a:defRPr/>
            </a:lvl1pPr>
            <a:lvl2pPr>
              <a:buSzPct val="120000"/>
              <a:defRPr/>
            </a:lvl2pPr>
            <a:lvl3pPr>
              <a:buSzPct val="120000"/>
              <a:defRPr/>
            </a:lvl3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572272"/>
            <a:ext cx="2133600" cy="28575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572272"/>
            <a:ext cx="2133600" cy="285752"/>
          </a:xfrm>
          <a:prstGeom prst="rect">
            <a:avLst/>
          </a:prstGeom>
        </p:spPr>
        <p:txBody>
          <a:bodyPr/>
          <a:lstStyle/>
          <a:p>
            <a:fld id="{267BB5C8-87DE-554D-82EC-54A76FD0F4E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3475" y="146384"/>
            <a:ext cx="8554805" cy="93978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9144000" cy="287338"/>
          </a:xfrm>
        </p:spPr>
        <p:txBody>
          <a:bodyPr>
            <a:noAutofit/>
          </a:bodyPr>
          <a:lstStyle>
            <a:lvl5pPr algn="r">
              <a:defRPr sz="1400">
                <a:solidFill>
                  <a:schemeClr val="bg1"/>
                </a:solidFill>
              </a:defRPr>
            </a:lvl5pPr>
          </a:lstStyle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611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1"/>
            <a:ext cx="285720" cy="6858000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70000"/>
              <a:buFont typeface="Wingdings"/>
              <a:buChar char=""/>
              <a:defRPr/>
            </a:lvl1pPr>
            <a:lvl2pPr>
              <a:buSzPct val="120000"/>
              <a:defRPr/>
            </a:lvl2pPr>
            <a:lvl3pPr>
              <a:buSzPct val="120000"/>
              <a:defRPr/>
            </a:lvl3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572272"/>
            <a:ext cx="2133600" cy="28575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572272"/>
            <a:ext cx="2133600" cy="285752"/>
          </a:xfrm>
          <a:prstGeom prst="rect">
            <a:avLst/>
          </a:prstGeom>
        </p:spPr>
        <p:txBody>
          <a:bodyPr/>
          <a:lstStyle/>
          <a:p>
            <a:fld id="{267BB5C8-87DE-554D-82EC-54A76FD0F4E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3475" y="146384"/>
            <a:ext cx="8554805" cy="93978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9144000" cy="287338"/>
          </a:xfrm>
        </p:spPr>
        <p:txBody>
          <a:bodyPr>
            <a:noAutofit/>
          </a:bodyPr>
          <a:lstStyle>
            <a:lvl5pPr algn="r">
              <a:defRPr sz="1400">
                <a:solidFill>
                  <a:schemeClr val="bg1"/>
                </a:solidFill>
              </a:defRPr>
            </a:lvl5pPr>
          </a:lstStyle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615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1"/>
            <a:ext cx="285720" cy="6858000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70000"/>
              <a:buFont typeface="Wingdings"/>
              <a:buChar char=""/>
              <a:defRPr/>
            </a:lvl1pPr>
            <a:lvl2pPr>
              <a:buSzPct val="120000"/>
              <a:defRPr/>
            </a:lvl2pPr>
            <a:lvl3pPr>
              <a:buSzPct val="120000"/>
              <a:defRPr/>
            </a:lvl3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572272"/>
            <a:ext cx="2133600" cy="28575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572272"/>
            <a:ext cx="2133600" cy="285752"/>
          </a:xfrm>
          <a:prstGeom prst="rect">
            <a:avLst/>
          </a:prstGeom>
        </p:spPr>
        <p:txBody>
          <a:bodyPr/>
          <a:lstStyle/>
          <a:p>
            <a:fld id="{267BB5C8-87DE-554D-82EC-54A76FD0F4E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3475" y="146384"/>
            <a:ext cx="8554805" cy="93978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9144000" cy="287338"/>
          </a:xfrm>
        </p:spPr>
        <p:txBody>
          <a:bodyPr>
            <a:noAutofit/>
          </a:bodyPr>
          <a:lstStyle>
            <a:lvl5pPr algn="r">
              <a:defRPr sz="1400">
                <a:solidFill>
                  <a:schemeClr val="bg1"/>
                </a:solidFill>
              </a:defRPr>
            </a:lvl5pPr>
          </a:lstStyle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82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1"/>
            <a:ext cx="285720" cy="6858000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70000"/>
              <a:buFont typeface="Wingdings"/>
              <a:buChar char=""/>
              <a:defRPr/>
            </a:lvl1pPr>
            <a:lvl2pPr>
              <a:buSzPct val="120000"/>
              <a:defRPr/>
            </a:lvl2pPr>
            <a:lvl3pPr>
              <a:buSzPct val="120000"/>
              <a:defRPr/>
            </a:lvl3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572272"/>
            <a:ext cx="2133600" cy="28575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572272"/>
            <a:ext cx="2133600" cy="285752"/>
          </a:xfrm>
          <a:prstGeom prst="rect">
            <a:avLst/>
          </a:prstGeom>
        </p:spPr>
        <p:txBody>
          <a:bodyPr/>
          <a:lstStyle/>
          <a:p>
            <a:fld id="{267BB5C8-87DE-554D-82EC-54A76FD0F4E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3475" y="146384"/>
            <a:ext cx="8554805" cy="93978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9144000" cy="287338"/>
          </a:xfrm>
        </p:spPr>
        <p:txBody>
          <a:bodyPr>
            <a:noAutofit/>
          </a:bodyPr>
          <a:lstStyle>
            <a:lvl5pPr algn="r">
              <a:defRPr sz="1400">
                <a:solidFill>
                  <a:schemeClr val="bg1"/>
                </a:solidFill>
              </a:defRPr>
            </a:lvl5pPr>
          </a:lstStyle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442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1"/>
            <a:ext cx="285720" cy="6858000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70000"/>
              <a:buFont typeface="Wingdings"/>
              <a:buChar char=""/>
              <a:defRPr/>
            </a:lvl1pPr>
            <a:lvl2pPr>
              <a:buSzPct val="120000"/>
              <a:defRPr/>
            </a:lvl2pPr>
            <a:lvl3pPr>
              <a:buSzPct val="120000"/>
              <a:defRPr/>
            </a:lvl3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572272"/>
            <a:ext cx="2133600" cy="28575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572272"/>
            <a:ext cx="2133600" cy="285752"/>
          </a:xfrm>
          <a:prstGeom prst="rect">
            <a:avLst/>
          </a:prstGeom>
        </p:spPr>
        <p:txBody>
          <a:bodyPr/>
          <a:lstStyle/>
          <a:p>
            <a:fld id="{267BB5C8-87DE-554D-82EC-54A76FD0F4E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3475" y="146384"/>
            <a:ext cx="8554805" cy="93978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9144000" cy="287338"/>
          </a:xfrm>
        </p:spPr>
        <p:txBody>
          <a:bodyPr>
            <a:noAutofit/>
          </a:bodyPr>
          <a:lstStyle>
            <a:lvl5pPr algn="r">
              <a:defRPr sz="1400">
                <a:solidFill>
                  <a:schemeClr val="bg1"/>
                </a:solidFill>
              </a:defRPr>
            </a:lvl5pPr>
          </a:lstStyle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790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53C92-0601-48EE-AFA4-2FF56D853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91B539-92D7-4528-A692-7009F3BDE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1E2E9A-9131-4671-8260-1A728C38D6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DA23AFB-D695-45DC-B078-1AF933B2D3AC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5DA855-DF62-4B6B-9656-AFAB7F700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EFC5E4-65EC-46E6-A34E-7D1CD7AA6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11AFD2BB-A6B0-4A8C-9F59-5F2469E3A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0620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C72B5-4FF3-45E7-A5A8-2AFC95C1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0AFF8B-D0BA-46B5-BBAF-055D6C4B6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D20D27-EEE7-46E2-9E96-0C020FA961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DA23AFB-D695-45DC-B078-1AF933B2D3AC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FE9B5A-3E03-451F-9DD6-A2E563511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E4E3F1-D524-4643-88F9-4A8C61077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11AFD2BB-A6B0-4A8C-9F59-5F2469E3A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7852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F1975E-D5D8-4B59-B250-252EC714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0B5236-1A71-492C-8335-E7CD5AF76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BC21B5-1E5A-4A78-867A-FC259A866D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DA23AFB-D695-45DC-B078-1AF933B2D3AC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149461-99C4-460D-AC8F-F961E2CC1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18ED43-3C78-404E-B02F-F619168E2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11AFD2BB-A6B0-4A8C-9F59-5F2469E3A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0413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05505E-D03B-4805-9A5B-3B83813C5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F3F35A-BF8D-4C76-AE68-51C3378AC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DA0BCE-B9E2-4C3E-9C02-027D66E0A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DC1425-C88F-4E84-A210-499A1FE74C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DA23AFB-D695-45DC-B078-1AF933B2D3AC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5EE5EF-46E4-4DD3-9AAA-3046520B0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144B78-B1A2-481A-A0E4-2069AC7F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11AFD2BB-A6B0-4A8C-9F59-5F2469E3A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0588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2312C-A7C3-4126-B266-4D8165F77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087BD9-5F19-41C0-95EE-4B867BADD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62718E-EEFB-497E-B6FE-9D55F030A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0D2A66-994A-47D7-A6B3-1DEDA5E61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A1D3C0-1A87-4513-B00A-55D9DB1B63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BBF5279-5A65-4F63-A9C9-BAD2314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DA23AFB-D695-45DC-B078-1AF933B2D3AC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D316FC-C4A7-4C0B-A004-9271C398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0105E6-A9DB-46C2-AB5C-A4D7FEC77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11AFD2BB-A6B0-4A8C-9F59-5F2469E3A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3461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ED4E8-B161-461F-A66B-5F815A095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3DA6497-570B-45F0-BF47-570348700E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DA23AFB-D695-45DC-B078-1AF933B2D3AC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A9B369-76E3-4C70-BDEF-987A2D47C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8A05D8-C3E0-4109-A207-A7DE2992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11AFD2BB-A6B0-4A8C-9F59-5F2469E3A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9682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9A3A99-3EC2-47DC-B8F9-BA8FBFBE8E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DA23AFB-D695-45DC-B078-1AF933B2D3AC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C49146-0E99-44D8-BB5A-016C786ED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115443-F8A8-48D6-A1E9-D739C4863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11AFD2BB-A6B0-4A8C-9F59-5F2469E3A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0707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E8F21-1D89-4DE3-8074-6D6DF1C32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0FF885-72EB-48B5-9B5F-693CF5622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BD9F3E-AB27-462D-860A-3569D95B4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5D9737-9453-4453-A2C2-A5FEC053F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DA23AFB-D695-45DC-B078-1AF933B2D3AC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BD8437-61ED-4AB0-B420-2A4A80A4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2AE8E3-A3DA-45DE-9F7E-E2DB730EE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11AFD2BB-A6B0-4A8C-9F59-5F2469E3A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7202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70D5E3-3E01-40CC-91B6-D60B3B01F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C8186C9-99A5-47FF-9DE7-DC7212D317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73F8D0-44FC-4F50-BAAA-261F86F0E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985F65-9564-4710-89AF-A65393E5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DA23AFB-D695-45DC-B078-1AF933B2D3AC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1C71DC-2420-4364-90B1-5417C6598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3ADE16-8DE8-4582-901E-89DBD6927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11AFD2BB-A6B0-4A8C-9F59-5F2469E3A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6743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A63236-AEF3-4110-985F-AAE1E30BE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B51869-C579-4D07-8018-DB3294842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1FF1E-8197-4AE5-94A5-553AB18D3C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DA23AFB-D695-45DC-B078-1AF933B2D3AC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F90F08-BA22-4E59-9304-1AD3382D8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DFA9A5-B2D7-4BF3-A105-F0764C46E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11AFD2BB-A6B0-4A8C-9F59-5F2469E3A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7530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29162E-EF9F-40C0-9A65-8CBF15827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AC7460-F6C3-499F-873C-00C150F24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7AEDCA-EBA4-48FD-B7D5-7F63E10BCE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DA23AFB-D695-45DC-B078-1AF933B2D3AC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E523BE-A811-4A11-B088-27D2287A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700E04-AE6C-48F2-9E2F-85D31F5C1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11AFD2BB-A6B0-4A8C-9F59-5F2469E3A2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91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tif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atinLnBrk="1"/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486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제목 1"/>
          <p:cNvSpPr txBox="1">
            <a:spLocks/>
          </p:cNvSpPr>
          <p:nvPr userDrawn="1"/>
        </p:nvSpPr>
        <p:spPr>
          <a:xfrm>
            <a:off x="7020272" y="4280"/>
            <a:ext cx="2123728" cy="544400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rgbClr val="0070C0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pPr algn="ctr"/>
            <a:r>
              <a:rPr lang="ko-KR" altLang="en-US" sz="1200" b="0" dirty="0">
                <a:solidFill>
                  <a:schemeClr val="bg1"/>
                </a:solidFill>
              </a:rPr>
              <a:t>제</a:t>
            </a:r>
            <a:r>
              <a:rPr lang="en-US" altLang="ko-KR" sz="1200" b="0" dirty="0">
                <a:solidFill>
                  <a:schemeClr val="bg1"/>
                </a:solidFill>
              </a:rPr>
              <a:t> 7</a:t>
            </a:r>
            <a:r>
              <a:rPr lang="ko-KR" altLang="en-US" sz="1200" b="0" dirty="0">
                <a:solidFill>
                  <a:schemeClr val="bg1"/>
                </a:solidFill>
              </a:rPr>
              <a:t>회 전자구조계산 여름학교</a:t>
            </a:r>
            <a:endParaRPr lang="en-US" altLang="ko-KR" sz="1200" b="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b="0" dirty="0">
                <a:solidFill>
                  <a:schemeClr val="bg1"/>
                </a:solidFill>
              </a:rPr>
              <a:t>2026.07.13 ~ 16 </a:t>
            </a:r>
            <a:r>
              <a:rPr lang="ko-KR" altLang="en-US" sz="1200" b="0" dirty="0">
                <a:solidFill>
                  <a:schemeClr val="bg1"/>
                </a:solidFill>
              </a:rPr>
              <a:t>실습 </a:t>
            </a:r>
            <a:r>
              <a:rPr lang="en-US" altLang="ko-KR" sz="1200" b="0" dirty="0">
                <a:solidFill>
                  <a:schemeClr val="bg1"/>
                </a:solidFill>
              </a:rPr>
              <a:t>1: 7/13 (</a:t>
            </a:r>
            <a:r>
              <a:rPr lang="ko-KR" altLang="en-US" sz="1200" b="0" dirty="0">
                <a:solidFill>
                  <a:schemeClr val="bg1"/>
                </a:solidFill>
              </a:rPr>
              <a:t>월</a:t>
            </a:r>
            <a:r>
              <a:rPr lang="en-US" altLang="ko-KR" sz="1200" b="0" dirty="0">
                <a:solidFill>
                  <a:schemeClr val="bg1"/>
                </a:solidFill>
              </a:rPr>
              <a:t>)</a:t>
            </a:r>
            <a:endParaRPr lang="ko-KR" altLang="en-US" sz="1200" b="0" dirty="0">
              <a:solidFill>
                <a:schemeClr val="bg1"/>
              </a:solidFill>
            </a:endParaRPr>
          </a:p>
        </p:txBody>
      </p:sp>
      <p:sp>
        <p:nvSpPr>
          <p:cNvPr id="11" name="바닥글 개체 틀 4">
            <a:extLst>
              <a:ext uri="{FF2B5EF4-FFF2-40B4-BE49-F238E27FC236}">
                <a16:creationId xmlns:a16="http://schemas.microsoft.com/office/drawing/2014/main" id="{6ABD20F8-D18A-4F89-B136-3EF59A451BE5}"/>
              </a:ext>
            </a:extLst>
          </p:cNvPr>
          <p:cNvSpPr txBox="1">
            <a:spLocks/>
          </p:cNvSpPr>
          <p:nvPr userDrawn="1"/>
        </p:nvSpPr>
        <p:spPr>
          <a:xfrm>
            <a:off x="8021750" y="6495693"/>
            <a:ext cx="879972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050" b="1" kern="120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srgbClr val="4BACC6">
                    <a:lumMod val="75000"/>
                  </a:srgbClr>
                </a:solidFill>
                <a:latin typeface="Constantia" pitchFamily="18" charset="0"/>
              </a:rPr>
              <a:t> J. Park</a:t>
            </a:r>
          </a:p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ko-KR" sz="900" i="1" dirty="0">
                <a:solidFill>
                  <a:srgbClr val="4BACC6">
                    <a:lumMod val="50000"/>
                  </a:srgbClr>
                </a:solidFill>
                <a:latin typeface="Constantia" pitchFamily="18" charset="0"/>
              </a:rPr>
              <a:t>KAIST</a:t>
            </a:r>
            <a:r>
              <a:rPr lang="en-US" altLang="ko-KR" sz="900" i="1" dirty="0">
                <a:solidFill>
                  <a:srgbClr val="4BACC6">
                    <a:lumMod val="75000"/>
                  </a:srgbClr>
                </a:solidFill>
                <a:latin typeface="Constantia" pitchFamily="18" charset="0"/>
              </a:rPr>
              <a:t> </a:t>
            </a:r>
            <a:r>
              <a:rPr lang="en-US" altLang="ko-KR" sz="900" i="1" dirty="0">
                <a:solidFill>
                  <a:srgbClr val="FF0000"/>
                </a:solidFill>
                <a:latin typeface="Constantia" pitchFamily="18" charset="0"/>
              </a:rPr>
              <a:t>E</a:t>
            </a:r>
            <a:r>
              <a:rPr lang="en-US" altLang="ko-KR" sz="900" i="1" dirty="0">
                <a:solidFill>
                  <a:srgbClr val="00B050"/>
                </a:solidFill>
                <a:latin typeface="Constantia" pitchFamily="18" charset="0"/>
              </a:rPr>
              <a:t>E</a:t>
            </a:r>
            <a:endParaRPr lang="ko-KR" altLang="en-US" sz="900" i="1" dirty="0">
              <a:solidFill>
                <a:srgbClr val="7030A0"/>
              </a:solidFill>
              <a:latin typeface="Constantia" pitchFamily="18" charset="0"/>
            </a:endParaRPr>
          </a:p>
        </p:txBody>
      </p:sp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06B0D7A6-0E62-4003-A77E-6E1E30FF6104}"/>
              </a:ext>
            </a:extLst>
          </p:cNvPr>
          <p:cNvSpPr txBox="1">
            <a:spLocks/>
          </p:cNvSpPr>
          <p:nvPr userDrawn="1"/>
        </p:nvSpPr>
        <p:spPr>
          <a:xfrm>
            <a:off x="8781452" y="6487878"/>
            <a:ext cx="365370" cy="3729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kumimoji="0" sz="10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fld id="{0D526BE3-724B-4E69-8D74-49C82C0D0585}" type="slidenum">
              <a:rPr lang="en-US" b="1" smtClean="0">
                <a:solidFill>
                  <a:prstClr val="white">
                    <a:lumMod val="65000"/>
                  </a:prstClr>
                </a:solidFill>
                <a:latin typeface="Constantia" panose="02030602050306030303" pitchFamily="18" charset="0"/>
                <a:ea typeface="굴림" pitchFamily="50" charset="-127"/>
              </a:rPr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t>‹#›</a:t>
            </a:fld>
            <a:endParaRPr lang="en-US" b="1" dirty="0">
              <a:solidFill>
                <a:prstClr val="white">
                  <a:lumMod val="65000"/>
                </a:prstClr>
              </a:solidFill>
              <a:latin typeface="Constantia" panose="02030602050306030303" pitchFamily="18" charset="0"/>
              <a:ea typeface="굴림" pitchFamily="50" charset="-127"/>
            </a:endParaRPr>
          </a:p>
        </p:txBody>
      </p:sp>
      <p:sp>
        <p:nvSpPr>
          <p:cNvPr id="13" name="바닥글 개체 틀 4">
            <a:extLst>
              <a:ext uri="{FF2B5EF4-FFF2-40B4-BE49-F238E27FC236}">
                <a16:creationId xmlns:a16="http://schemas.microsoft.com/office/drawing/2014/main" id="{4E8AF3F2-8346-40C8-ABAF-205A32644BA6}"/>
              </a:ext>
            </a:extLst>
          </p:cNvPr>
          <p:cNvSpPr txBox="1">
            <a:spLocks/>
          </p:cNvSpPr>
          <p:nvPr userDrawn="1"/>
        </p:nvSpPr>
        <p:spPr>
          <a:xfrm>
            <a:off x="8730764" y="6495692"/>
            <a:ext cx="17389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ko-KR" sz="1200" b="1" dirty="0">
                <a:solidFill>
                  <a:prstClr val="white">
                    <a:lumMod val="65000"/>
                  </a:prstClr>
                </a:solidFill>
                <a:latin typeface="Constantia" panose="02030602050306030303" pitchFamily="18" charset="0"/>
              </a:rPr>
              <a:t>|</a:t>
            </a:r>
            <a:endParaRPr lang="ko-KR" altLang="en-US" sz="1200" b="1" dirty="0">
              <a:solidFill>
                <a:prstClr val="white">
                  <a:lumMod val="65000"/>
                </a:prstClr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972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708" r:id="rId3"/>
    <p:sldLayoutId id="2147483707" r:id="rId4"/>
    <p:sldLayoutId id="2147483706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25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hyperlink" Target="https://nanornd.edison.re.kr/home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1">
            <a:extLst>
              <a:ext uri="{FF2B5EF4-FFF2-40B4-BE49-F238E27FC236}">
                <a16:creationId xmlns:a16="http://schemas.microsoft.com/office/drawing/2014/main" id="{7CBDCA6B-E12D-456D-988E-CD0FE03FDECF}"/>
              </a:ext>
            </a:extLst>
          </p:cNvPr>
          <p:cNvGrpSpPr>
            <a:grpSpLocks/>
          </p:cNvGrpSpPr>
          <p:nvPr/>
        </p:nvGrpSpPr>
        <p:grpSpPr bwMode="auto">
          <a:xfrm>
            <a:off x="611560" y="2137544"/>
            <a:ext cx="8108454" cy="1433513"/>
            <a:chOff x="0" y="1296"/>
            <a:chExt cx="5652" cy="903"/>
          </a:xfrm>
        </p:grpSpPr>
        <p:grpSp>
          <p:nvGrpSpPr>
            <p:cNvPr id="3" name="Group 22">
              <a:extLst>
                <a:ext uri="{FF2B5EF4-FFF2-40B4-BE49-F238E27FC236}">
                  <a16:creationId xmlns:a16="http://schemas.microsoft.com/office/drawing/2014/main" id="{4C32FA50-131B-495C-8CEB-9C67E16F83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389"/>
              <a:ext cx="448" cy="407"/>
              <a:chOff x="720" y="336"/>
              <a:chExt cx="624" cy="432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4161C653-F292-4042-8503-F4A881ECA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800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1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903638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1" lang="ko-KR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굴림" pitchFamily="50" charset="-127"/>
                </a:endParaRPr>
              </a:p>
            </p:txBody>
          </p:sp>
          <p:sp>
            <p:nvSpPr>
              <p:cNvPr id="11" name="Rectangle 24">
                <a:extLst>
                  <a:ext uri="{FF2B5EF4-FFF2-40B4-BE49-F238E27FC236}">
                    <a16:creationId xmlns:a16="http://schemas.microsoft.com/office/drawing/2014/main" id="{28E356D4-F62F-441A-B4ED-A387BBA932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ysClr val="window" lastClr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1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903638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1" lang="ko-KR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굴림" pitchFamily="50" charset="-127"/>
                </a:endParaRPr>
              </a:p>
            </p:txBody>
          </p:sp>
        </p:grpSp>
        <p:grpSp>
          <p:nvGrpSpPr>
            <p:cNvPr id="4" name="Group 25">
              <a:extLst>
                <a:ext uri="{FF2B5EF4-FFF2-40B4-BE49-F238E27FC236}">
                  <a16:creationId xmlns:a16="http://schemas.microsoft.com/office/drawing/2014/main" id="{652C3A90-5C8E-49D0-8994-ABAAEE10DE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751"/>
              <a:ext cx="465" cy="407"/>
              <a:chOff x="912" y="2640"/>
              <a:chExt cx="672" cy="432"/>
            </a:xfrm>
          </p:grpSpPr>
          <p:sp>
            <p:nvSpPr>
              <p:cNvPr id="8" name="Rectangle 26">
                <a:extLst>
                  <a:ext uri="{FF2B5EF4-FFF2-40B4-BE49-F238E27FC236}">
                    <a16:creationId xmlns:a16="http://schemas.microsoft.com/office/drawing/2014/main" id="{DE6C9F5A-6E25-43F8-B6EC-FD417963BD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rgbClr val="C050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1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903638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1" lang="ko-KR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굴림" pitchFamily="50" charset="-127"/>
                </a:endParaRPr>
              </a:p>
            </p:txBody>
          </p:sp>
          <p:sp>
            <p:nvSpPr>
              <p:cNvPr id="9" name="Rectangle 27">
                <a:extLst>
                  <a:ext uri="{FF2B5EF4-FFF2-40B4-BE49-F238E27FC236}">
                    <a16:creationId xmlns:a16="http://schemas.microsoft.com/office/drawing/2014/main" id="{8F26651B-C099-477F-8535-77A5274F17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rgbClr val="C0504D"/>
                  </a:gs>
                  <a:gs pos="100000">
                    <a:sysClr val="window" lastClr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1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903638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1" lang="ko-KR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굴림" pitchFamily="50" charset="-127"/>
                </a:endParaRPr>
              </a:p>
            </p:txBody>
          </p:sp>
        </p:grpSp>
        <p:sp>
          <p:nvSpPr>
            <p:cNvPr id="5" name="Rectangle 28">
              <a:extLst>
                <a:ext uri="{FF2B5EF4-FFF2-40B4-BE49-F238E27FC236}">
                  <a16:creationId xmlns:a16="http://schemas.microsoft.com/office/drawing/2014/main" id="{0A10F68B-0EE1-49EC-8633-AABD0F663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688"/>
              <a:ext cx="353" cy="363"/>
            </a:xfrm>
            <a:prstGeom prst="rect">
              <a:avLst/>
            </a:prstGeom>
            <a:gradFill rotWithShape="0">
              <a:gsLst>
                <a:gs pos="0">
                  <a:sysClr val="window" lastClr="FFFFFF"/>
                </a:gs>
                <a:gs pos="100000">
                  <a:srgbClr val="0000FF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903638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1" lang="ko-KR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6" name="Rectangle 29">
              <a:extLst>
                <a:ext uri="{FF2B5EF4-FFF2-40B4-BE49-F238E27FC236}">
                  <a16:creationId xmlns:a16="http://schemas.microsoft.com/office/drawing/2014/main" id="{481C7143-F5BC-4447-A480-FE6984311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296"/>
              <a:ext cx="47" cy="903"/>
            </a:xfrm>
            <a:prstGeom prst="rect">
              <a:avLst/>
            </a:prstGeom>
            <a:solidFill>
              <a:srgbClr val="EEEC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903638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1" lang="ko-KR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7" name="Rectangle 30">
              <a:extLst>
                <a:ext uri="{FF2B5EF4-FFF2-40B4-BE49-F238E27FC236}">
                  <a16:creationId xmlns:a16="http://schemas.microsoft.com/office/drawing/2014/main" id="{AC90A519-2CB4-40CE-A44F-892048EDC5D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02"/>
              <a:ext cx="5453" cy="49"/>
            </a:xfrm>
            <a:prstGeom prst="rect">
              <a:avLst/>
            </a:prstGeom>
            <a:gradFill rotWithShape="0">
              <a:gsLst>
                <a:gs pos="0">
                  <a:srgbClr val="EEECE1"/>
                </a:gs>
                <a:gs pos="100000">
                  <a:sysClr val="window" lastClr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903638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1" lang="ko-KR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</p:grpSp>
      <p:sp>
        <p:nvSpPr>
          <p:cNvPr id="12" name="Rectangle 31">
            <a:extLst>
              <a:ext uri="{FF2B5EF4-FFF2-40B4-BE49-F238E27FC236}">
                <a16:creationId xmlns:a16="http://schemas.microsoft.com/office/drawing/2014/main" id="{FB84E7A8-9601-46DA-AB3C-26C1A05CD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137" y="1561317"/>
            <a:ext cx="7255674" cy="157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800" b="1" kern="1200" dirty="0">
                <a:solidFill>
                  <a:srgbClr val="002060"/>
                </a:solidFill>
                <a:latin typeface="+mn-lt"/>
                <a:ea typeface="+mj-ea"/>
                <a:cs typeface="Calibri" pitchFamily="34" charset="0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libri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libri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libri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libri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libri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libri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libri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libri"/>
                <a:ea typeface="맑은 고딕" pitchFamily="50" charset="-127"/>
              </a:defRPr>
            </a:lvl9pPr>
          </a:lstStyle>
          <a:p>
            <a:pPr latinLnBrk="0"/>
            <a:r>
              <a:rPr kumimoji="1" lang="ko-KR" altLang="en-US" dirty="0">
                <a:solidFill>
                  <a:srgbClr val="333399"/>
                </a:solidFill>
                <a:latin typeface="Constantia" pitchFamily="18" charset="0"/>
                <a:cs typeface="+mj-cs"/>
              </a:rPr>
              <a:t>실습 </a:t>
            </a:r>
            <a:r>
              <a:rPr kumimoji="1" lang="en-US" altLang="ko-KR" dirty="0">
                <a:solidFill>
                  <a:srgbClr val="333399"/>
                </a:solidFill>
                <a:latin typeface="Constantia" pitchFamily="18" charset="0"/>
                <a:cs typeface="+mj-cs"/>
              </a:rPr>
              <a:t>1: EDISON </a:t>
            </a:r>
            <a:r>
              <a:rPr kumimoji="1" lang="ko-KR" altLang="en-US" dirty="0">
                <a:solidFill>
                  <a:srgbClr val="333399"/>
                </a:solidFill>
                <a:latin typeface="Constantia" pitchFamily="18" charset="0"/>
                <a:cs typeface="+mj-cs"/>
              </a:rPr>
              <a:t>홈페이지에서의 양자계산 패키지 설치 </a:t>
            </a:r>
            <a:r>
              <a:rPr kumimoji="1" lang="en-US" altLang="ko-KR" dirty="0">
                <a:solidFill>
                  <a:srgbClr val="333399"/>
                </a:solidFill>
                <a:latin typeface="Constantia" pitchFamily="18" charset="0"/>
                <a:cs typeface="+mj-cs"/>
              </a:rPr>
              <a:t>(VS Code)</a:t>
            </a:r>
            <a:endParaRPr kumimoji="1" lang="ko-KR" altLang="en-US" dirty="0">
              <a:solidFill>
                <a:srgbClr val="333399"/>
              </a:solidFill>
              <a:latin typeface="Constantia" pitchFamily="18" charset="0"/>
              <a:cs typeface="+mj-cs"/>
            </a:endParaRPr>
          </a:p>
        </p:txBody>
      </p:sp>
      <p:pic>
        <p:nvPicPr>
          <p:cNvPr id="13" name="Picture 346">
            <a:extLst>
              <a:ext uri="{FF2B5EF4-FFF2-40B4-BE49-F238E27FC236}">
                <a16:creationId xmlns:a16="http://schemas.microsoft.com/office/drawing/2014/main" id="{4EC564E3-2B22-43A8-AE11-42D24863E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127667" y="5976959"/>
            <a:ext cx="748815" cy="548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41" descr="C:\Users\yh1k\AppData\Local\Temp\_AZTMP1_\KAIST_logo.jpg">
            <a:extLst>
              <a:ext uri="{FF2B5EF4-FFF2-40B4-BE49-F238E27FC236}">
                <a16:creationId xmlns:a16="http://schemas.microsoft.com/office/drawing/2014/main" id="{8A7B3428-94F5-4AA2-9A68-1C43B51CBE1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5682" y="6066054"/>
            <a:ext cx="1704171" cy="542693"/>
          </a:xfrm>
          <a:prstGeom prst="rect">
            <a:avLst/>
          </a:prstGeom>
          <a:noFill/>
        </p:spPr>
      </p:pic>
      <p:sp>
        <p:nvSpPr>
          <p:cNvPr id="15" name="Rectangle 32">
            <a:extLst>
              <a:ext uri="{FF2B5EF4-FFF2-40B4-BE49-F238E27FC236}">
                <a16:creationId xmlns:a16="http://schemas.microsoft.com/office/drawing/2014/main" id="{0FBF1407-8353-4B57-98E1-3663A84F2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764704"/>
            <a:ext cx="7510749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1463" indent="-271463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Blip>
                <a:blip r:embed="rId4"/>
              </a:buBlip>
              <a:tabLst>
                <a:tab pos="989013" algn="l"/>
              </a:tabLst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7550" indent="-2667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tabLst>
                <a:tab pos="989013" algn="l"/>
              </a:tabLst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65225" indent="-2682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itchFamily="34" charset="0"/>
              <a:buChar char="−"/>
              <a:tabLst>
                <a:tab pos="989013" algn="l"/>
              </a:tabLst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89125" indent="-315913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Char char="–"/>
              <a:tabLst>
                <a:tab pos="989013" algn="l"/>
              </a:tabLst>
              <a:defRPr kumimoji="1" sz="2000">
                <a:solidFill>
                  <a:schemeClr val="tx1"/>
                </a:solidFill>
                <a:latin typeface="+mn-ea"/>
                <a:ea typeface="+mn-ea"/>
              </a:defRPr>
            </a:lvl4pPr>
            <a:lvl5pPr marL="2408238" indent="-3397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 2" pitchFamily="18" charset="2"/>
              <a:buChar char=""/>
              <a:tabLst>
                <a:tab pos="989013" algn="l"/>
              </a:tabLst>
              <a:defRPr kumimoji="1" sz="2000">
                <a:solidFill>
                  <a:schemeClr val="tx1"/>
                </a:solidFill>
                <a:latin typeface="+mn-ea"/>
                <a:ea typeface="+mn-ea"/>
              </a:defRPr>
            </a:lvl5pPr>
            <a:lvl6pPr marL="2865438" indent="-339725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 2" pitchFamily="18" charset="2"/>
              <a:buChar char=""/>
              <a:tabLst>
                <a:tab pos="989013" algn="l"/>
              </a:tabLst>
              <a:defRPr kumimoji="1">
                <a:solidFill>
                  <a:schemeClr val="tx1"/>
                </a:solidFill>
                <a:latin typeface="+mn-ea"/>
                <a:ea typeface="+mn-ea"/>
              </a:defRPr>
            </a:lvl6pPr>
            <a:lvl7pPr marL="3322638" indent="-339725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 2" pitchFamily="18" charset="2"/>
              <a:buChar char=""/>
              <a:tabLst>
                <a:tab pos="989013" algn="l"/>
              </a:tabLst>
              <a:defRPr kumimoji="1">
                <a:solidFill>
                  <a:schemeClr val="tx1"/>
                </a:solidFill>
                <a:latin typeface="+mn-ea"/>
                <a:ea typeface="+mn-ea"/>
              </a:defRPr>
            </a:lvl7pPr>
            <a:lvl8pPr marL="3779838" indent="-339725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 2" pitchFamily="18" charset="2"/>
              <a:buChar char=""/>
              <a:tabLst>
                <a:tab pos="989013" algn="l"/>
              </a:tabLst>
              <a:defRPr kumimoji="1">
                <a:solidFill>
                  <a:schemeClr val="tx1"/>
                </a:solidFill>
                <a:latin typeface="+mn-ea"/>
                <a:ea typeface="+mn-ea"/>
              </a:defRPr>
            </a:lvl8pPr>
            <a:lvl9pPr marL="4237038" indent="-339725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 2" pitchFamily="18" charset="2"/>
              <a:buChar char=""/>
              <a:tabLst>
                <a:tab pos="989013" algn="l"/>
              </a:tabLst>
              <a:defRPr kumimoji="1">
                <a:solidFill>
                  <a:schemeClr val="tx1"/>
                </a:solidFill>
                <a:latin typeface="+mn-ea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ko-KR" altLang="en-US" sz="2400" b="1" dirty="0">
                <a:solidFill>
                  <a:srgbClr val="C0000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제</a:t>
            </a:r>
            <a:r>
              <a:rPr lang="en-US" altLang="ko-KR" sz="2400" b="1" dirty="0">
                <a:solidFill>
                  <a:srgbClr val="C0000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 7</a:t>
            </a:r>
            <a:r>
              <a:rPr lang="ko-KR" altLang="en-US" sz="2400" b="1" dirty="0">
                <a:solidFill>
                  <a:srgbClr val="C0000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회 전자구조계산 여름학교</a:t>
            </a:r>
            <a:endParaRPr lang="en-US" altLang="ko-KR" sz="2400" b="1" dirty="0">
              <a:solidFill>
                <a:srgbClr val="C00000"/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ko-KR" sz="2400" b="1" dirty="0">
              <a:solidFill>
                <a:srgbClr val="C00000"/>
              </a:solidFill>
              <a:latin typeface="Constantia" panose="02030602050306030303" pitchFamily="18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6" name="Rectangle 32">
            <a:extLst>
              <a:ext uri="{FF2B5EF4-FFF2-40B4-BE49-F238E27FC236}">
                <a16:creationId xmlns:a16="http://schemas.microsoft.com/office/drawing/2014/main" id="{59C82790-2D11-4AA6-A79B-BC6064232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3638" y="3686661"/>
            <a:ext cx="7006672" cy="182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1463" indent="-271463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Blip>
                <a:blip r:embed="rId4"/>
              </a:buBlip>
              <a:tabLst>
                <a:tab pos="989013" algn="l"/>
              </a:tabLst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7550" indent="-2667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tabLst>
                <a:tab pos="989013" algn="l"/>
              </a:tabLst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65225" indent="-2682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itchFamily="34" charset="0"/>
              <a:buChar char="−"/>
              <a:tabLst>
                <a:tab pos="989013" algn="l"/>
              </a:tabLst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89125" indent="-315913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Char char="–"/>
              <a:tabLst>
                <a:tab pos="989013" algn="l"/>
              </a:tabLst>
              <a:defRPr kumimoji="1" sz="2000">
                <a:solidFill>
                  <a:schemeClr val="tx1"/>
                </a:solidFill>
                <a:latin typeface="+mn-ea"/>
                <a:ea typeface="+mn-ea"/>
              </a:defRPr>
            </a:lvl4pPr>
            <a:lvl5pPr marL="2408238" indent="-3397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 2" pitchFamily="18" charset="2"/>
              <a:buChar char=""/>
              <a:tabLst>
                <a:tab pos="989013" algn="l"/>
              </a:tabLst>
              <a:defRPr kumimoji="1" sz="2000">
                <a:solidFill>
                  <a:schemeClr val="tx1"/>
                </a:solidFill>
                <a:latin typeface="+mn-ea"/>
                <a:ea typeface="+mn-ea"/>
              </a:defRPr>
            </a:lvl5pPr>
            <a:lvl6pPr marL="2865438" indent="-339725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 2" pitchFamily="18" charset="2"/>
              <a:buChar char=""/>
              <a:tabLst>
                <a:tab pos="989013" algn="l"/>
              </a:tabLst>
              <a:defRPr kumimoji="1">
                <a:solidFill>
                  <a:schemeClr val="tx1"/>
                </a:solidFill>
                <a:latin typeface="+mn-ea"/>
                <a:ea typeface="+mn-ea"/>
              </a:defRPr>
            </a:lvl6pPr>
            <a:lvl7pPr marL="3322638" indent="-339725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 2" pitchFamily="18" charset="2"/>
              <a:buChar char=""/>
              <a:tabLst>
                <a:tab pos="989013" algn="l"/>
              </a:tabLst>
              <a:defRPr kumimoji="1">
                <a:solidFill>
                  <a:schemeClr val="tx1"/>
                </a:solidFill>
                <a:latin typeface="+mn-ea"/>
                <a:ea typeface="+mn-ea"/>
              </a:defRPr>
            </a:lvl7pPr>
            <a:lvl8pPr marL="3779838" indent="-339725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 2" pitchFamily="18" charset="2"/>
              <a:buChar char=""/>
              <a:tabLst>
                <a:tab pos="989013" algn="l"/>
              </a:tabLst>
              <a:defRPr kumimoji="1">
                <a:solidFill>
                  <a:schemeClr val="tx1"/>
                </a:solidFill>
                <a:latin typeface="+mn-ea"/>
                <a:ea typeface="+mn-ea"/>
              </a:defRPr>
            </a:lvl8pPr>
            <a:lvl9pPr marL="4237038" indent="-339725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 2" pitchFamily="18" charset="2"/>
              <a:buChar char=""/>
              <a:tabLst>
                <a:tab pos="989013" algn="l"/>
              </a:tabLst>
              <a:defRPr kumimoji="1">
                <a:solidFill>
                  <a:schemeClr val="tx1"/>
                </a:solidFill>
                <a:latin typeface="+mn-ea"/>
                <a:ea typeface="+mn-ea"/>
              </a:defRPr>
            </a:lvl9pPr>
          </a:lstStyle>
          <a:p>
            <a:pPr marL="342900" indent="-342900" algn="ctr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ko-KR" sz="2400" b="1" dirty="0">
                <a:latin typeface="Constantia" panose="02030602050306030303" pitchFamily="18" charset="0"/>
              </a:rPr>
              <a:t>Ph. D. Joonho Park</a:t>
            </a:r>
            <a:endParaRPr lang="en-US" altLang="ko-KR" sz="1100" dirty="0">
              <a:solidFill>
                <a:srgbClr val="0000FF"/>
              </a:solidFill>
              <a:latin typeface="Constantia" panose="02030602050306030303" pitchFamily="18" charset="0"/>
            </a:endParaRPr>
          </a:p>
          <a:p>
            <a:pPr marL="342900" indent="-342900" algn="ctr" eaLnBrk="1" hangingPunct="1">
              <a:buFont typeface="Wingdings 2" pitchFamily="18" charset="2"/>
              <a:buNone/>
            </a:pPr>
            <a:r>
              <a:rPr kumimoji="0" lang="en-US" altLang="ko-KR" sz="1600" dirty="0">
                <a:latin typeface="Constantia" panose="02030602050306030303" pitchFamily="18" charset="0"/>
              </a:rPr>
              <a:t>School of Electrical Engineering</a:t>
            </a:r>
          </a:p>
          <a:p>
            <a:pPr marL="342900" indent="-342900" algn="ctr" eaLnBrk="1" hangingPunct="1">
              <a:buFont typeface="Wingdings 2" pitchFamily="18" charset="2"/>
              <a:buNone/>
            </a:pPr>
            <a:r>
              <a:rPr kumimoji="0" lang="en-US" altLang="ko-KR" sz="1600" dirty="0">
                <a:latin typeface="Constantia" panose="02030602050306030303" pitchFamily="18" charset="0"/>
              </a:rPr>
              <a:t>Korea Advanced Institute of Science &amp; Technology (KAIST)</a:t>
            </a:r>
          </a:p>
          <a:p>
            <a:pPr marL="342900" indent="-342900" algn="ctr" eaLnBrk="1" hangingPunct="1">
              <a:buFont typeface="Wingdings 2" pitchFamily="18" charset="2"/>
              <a:buNone/>
            </a:pPr>
            <a:endParaRPr kumimoji="0" lang="en-US" altLang="ko-KR" sz="1600" dirty="0">
              <a:latin typeface="Constantia" panose="02030602050306030303" pitchFamily="18" charset="0"/>
            </a:endParaRPr>
          </a:p>
          <a:p>
            <a:pPr marL="342900" indent="-342900" algn="ctr" eaLnBrk="1" hangingPunct="1">
              <a:buFont typeface="Wingdings 2" pitchFamily="18" charset="2"/>
              <a:buNone/>
            </a:pPr>
            <a:r>
              <a:rPr kumimoji="0" lang="en-US" altLang="ko-KR" sz="1600" dirty="0">
                <a:latin typeface="Constantia" panose="02030602050306030303" pitchFamily="18" charset="0"/>
              </a:rPr>
              <a:t>2026. 7. 13. (</a:t>
            </a:r>
            <a:r>
              <a:rPr kumimoji="0" lang="ko-KR" altLang="en-US" sz="1600" dirty="0">
                <a:latin typeface="Constantia" panose="02030602050306030303" pitchFamily="18" charset="0"/>
              </a:rPr>
              <a:t>월</a:t>
            </a:r>
            <a:r>
              <a:rPr kumimoji="0" lang="en-US" altLang="ko-KR" sz="1600" dirty="0">
                <a:latin typeface="Constantia" panose="02030602050306030303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72339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243D7F6-2A58-BF32-D25C-2AA7E0DA3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191F82-7236-626C-8C88-771D44073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92" y="1124744"/>
            <a:ext cx="8435280" cy="5616624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Edison homepage</a:t>
            </a:r>
          </a:p>
          <a:p>
            <a:pPr lvl="1"/>
            <a:r>
              <a:rPr lang="ko-KR" altLang="en-US" dirty="0"/>
              <a:t>계정 만들기</a:t>
            </a:r>
            <a:endParaRPr lang="en-US" altLang="ko-KR" dirty="0"/>
          </a:p>
          <a:p>
            <a:pPr lvl="1"/>
            <a:r>
              <a:rPr lang="ko-KR" altLang="en-US" dirty="0"/>
              <a:t>다양한 </a:t>
            </a:r>
            <a:r>
              <a:rPr lang="en-US" altLang="ko-KR" dirty="0"/>
              <a:t>App </a:t>
            </a:r>
            <a:r>
              <a:rPr lang="ko-KR" altLang="en-US" dirty="0"/>
              <a:t>활용</a:t>
            </a:r>
            <a:endParaRPr lang="en-US" altLang="ko-KR" dirty="0"/>
          </a:p>
          <a:p>
            <a:pPr lvl="2"/>
            <a:r>
              <a:rPr lang="en-US" altLang="ko-KR" dirty="0"/>
              <a:t>Crystal Viewer, File Browser, </a:t>
            </a:r>
            <a:r>
              <a:rPr lang="en-US" altLang="ko-KR" dirty="0" err="1"/>
              <a:t>Jupyter</a:t>
            </a:r>
            <a:r>
              <a:rPr lang="en-US" altLang="ko-KR" dirty="0"/>
              <a:t> Notebook, </a:t>
            </a:r>
            <a:r>
              <a:rPr lang="en-US" altLang="ko-KR" dirty="0">
                <a:solidFill>
                  <a:srgbClr val="FF0000"/>
                </a:solidFill>
              </a:rPr>
              <a:t>VS Code</a:t>
            </a:r>
            <a:endParaRPr lang="en-US" altLang="ko-KR" dirty="0"/>
          </a:p>
          <a:p>
            <a:r>
              <a:rPr lang="en-US" altLang="ko-KR" dirty="0"/>
              <a:t>VS Code</a:t>
            </a:r>
          </a:p>
          <a:p>
            <a:pPr lvl="1"/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en-US" altLang="ko-KR" dirty="0"/>
              <a:t>Panel</a:t>
            </a:r>
          </a:p>
          <a:p>
            <a:pPr lvl="2"/>
            <a:r>
              <a:rPr lang="en-US" altLang="ko-KR" dirty="0"/>
              <a:t>Editor, Terminal, …</a:t>
            </a:r>
          </a:p>
          <a:p>
            <a:pPr lvl="1"/>
            <a:r>
              <a:rPr lang="en-US" altLang="ko-KR" dirty="0"/>
              <a:t>Job</a:t>
            </a:r>
          </a:p>
          <a:p>
            <a:pPr lvl="2"/>
            <a:r>
              <a:rPr lang="en-US" altLang="ko-KR" dirty="0"/>
              <a:t>Submit</a:t>
            </a:r>
          </a:p>
          <a:p>
            <a:pPr lvl="2"/>
            <a:r>
              <a:rPr lang="ko-KR" altLang="en-US" dirty="0"/>
              <a:t>확인</a:t>
            </a:r>
            <a:r>
              <a:rPr lang="en-US" altLang="ko-KR" dirty="0"/>
              <a:t>, …</a:t>
            </a:r>
          </a:p>
          <a:p>
            <a:r>
              <a:rPr lang="en-US" altLang="ko-KR" dirty="0"/>
              <a:t>Linux</a:t>
            </a:r>
          </a:p>
          <a:p>
            <a:pPr lvl="1"/>
            <a:r>
              <a:rPr lang="en-US" altLang="ko-KR" dirty="0"/>
              <a:t>Linux</a:t>
            </a:r>
            <a:r>
              <a:rPr lang="ko-KR" altLang="en-US" dirty="0"/>
              <a:t> 환경</a:t>
            </a:r>
            <a:endParaRPr lang="en-US" altLang="ko-KR" dirty="0"/>
          </a:p>
          <a:p>
            <a:pPr lvl="1"/>
            <a:r>
              <a:rPr lang="en-US" altLang="ko-KR" dirty="0"/>
              <a:t>Command, variable, </a:t>
            </a:r>
            <a:r>
              <a:rPr lang="en-US" altLang="ko-KR" dirty="0" err="1"/>
              <a:t>etc</a:t>
            </a:r>
            <a:endParaRPr lang="en-US" altLang="ko-KR" dirty="0"/>
          </a:p>
          <a:p>
            <a:pPr lvl="2"/>
            <a:r>
              <a:rPr lang="en-US" altLang="ko-KR" dirty="0"/>
              <a:t>ls</a:t>
            </a:r>
          </a:p>
          <a:p>
            <a:pPr lvl="2"/>
            <a:r>
              <a:rPr lang="en-US" altLang="ko-KR" dirty="0"/>
              <a:t>git</a:t>
            </a:r>
          </a:p>
          <a:p>
            <a:pPr lvl="2"/>
            <a:r>
              <a:rPr lang="en-US" altLang="ko-KR" dirty="0"/>
              <a:t>Bash, …</a:t>
            </a:r>
          </a:p>
          <a:p>
            <a:r>
              <a:rPr lang="ko-KR" altLang="en-US" dirty="0"/>
              <a:t>수업</a:t>
            </a:r>
            <a:endParaRPr lang="en-US" altLang="ko-KR" dirty="0"/>
          </a:p>
          <a:p>
            <a:r>
              <a:rPr lang="en-US" altLang="ko-KR" dirty="0"/>
              <a:t>Atom install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1177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24E5C7-0D83-70D2-6D67-34ACD9951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Edison homepage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2B60E0-9BE0-6E74-5889-4D1C75EF4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Make an account</a:t>
            </a:r>
          </a:p>
          <a:p>
            <a:pPr lvl="1"/>
            <a:r>
              <a:rPr lang="en-US" altLang="ko-KR" dirty="0"/>
              <a:t>Homepage: </a:t>
            </a:r>
            <a:r>
              <a:rPr lang="en-US" altLang="ko-KR" dirty="0">
                <a:hlinkClick r:id="rId2"/>
              </a:rPr>
              <a:t>https://nanornd.edison.re.kr/home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3B14814-8667-751A-3C9E-A6D7437C4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204864"/>
            <a:ext cx="7295243" cy="72008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94298EF8-9938-A565-7A25-804AC3808D06}"/>
              </a:ext>
            </a:extLst>
          </p:cNvPr>
          <p:cNvSpPr/>
          <p:nvPr/>
        </p:nvSpPr>
        <p:spPr>
          <a:xfrm>
            <a:off x="6156176" y="2312876"/>
            <a:ext cx="777782" cy="5040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BE23600-2899-3B55-76B4-BF1DC0F5DD8F}"/>
              </a:ext>
            </a:extLst>
          </p:cNvPr>
          <p:cNvSpPr/>
          <p:nvPr/>
        </p:nvSpPr>
        <p:spPr>
          <a:xfrm>
            <a:off x="3347864" y="2312876"/>
            <a:ext cx="648072" cy="5040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ECE2F56-42E9-0BF1-7D15-D411213A4953}"/>
              </a:ext>
            </a:extLst>
          </p:cNvPr>
          <p:cNvSpPr/>
          <p:nvPr/>
        </p:nvSpPr>
        <p:spPr>
          <a:xfrm>
            <a:off x="4716016" y="2312876"/>
            <a:ext cx="648072" cy="5040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48CEC00-547E-8078-4931-26F73360F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664" y="3016163"/>
            <a:ext cx="2180966" cy="38195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0CABEE7-AF60-7F38-71B2-EE52650AB6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167" y="3340604"/>
            <a:ext cx="2019582" cy="1276528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6782BCFA-63E4-6CA8-8CAA-0536BC749CBD}"/>
              </a:ext>
            </a:extLst>
          </p:cNvPr>
          <p:cNvGrpSpPr/>
          <p:nvPr/>
        </p:nvGrpSpPr>
        <p:grpSpPr>
          <a:xfrm>
            <a:off x="3870333" y="3041354"/>
            <a:ext cx="2041537" cy="1983381"/>
            <a:chOff x="3983639" y="3029795"/>
            <a:chExt cx="2041537" cy="198338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6A4D4FB-207A-3883-4E43-A65C7EF37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95936" y="3029795"/>
              <a:ext cx="2029240" cy="1983381"/>
            </a:xfrm>
            <a:prstGeom prst="rect">
              <a:avLst/>
            </a:prstGeom>
          </p:spPr>
        </p:pic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68417CB8-2975-E874-89BB-B8E3CB20E8E0}"/>
                </a:ext>
              </a:extLst>
            </p:cNvPr>
            <p:cNvSpPr/>
            <p:nvPr/>
          </p:nvSpPr>
          <p:spPr>
            <a:xfrm>
              <a:off x="3995936" y="3174616"/>
              <a:ext cx="1368152" cy="216024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E2883DB-ACF5-7BE2-8F43-CC804EE9FBB3}"/>
                </a:ext>
              </a:extLst>
            </p:cNvPr>
            <p:cNvSpPr/>
            <p:nvPr/>
          </p:nvSpPr>
          <p:spPr>
            <a:xfrm>
              <a:off x="3983639" y="4072361"/>
              <a:ext cx="1368152" cy="216024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7B025CE1-D5FE-0474-7C68-A09D87351F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4732" y="900188"/>
            <a:ext cx="1003048" cy="1060040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613245E-770C-B90D-2B0E-BEC06E99D82F}"/>
              </a:ext>
            </a:extLst>
          </p:cNvPr>
          <p:cNvCxnSpPr>
            <a:stCxn id="6" idx="3"/>
            <a:endCxn id="14" idx="0"/>
          </p:cNvCxnSpPr>
          <p:nvPr/>
        </p:nvCxnSpPr>
        <p:spPr>
          <a:xfrm flipH="1">
            <a:off x="2638147" y="2743115"/>
            <a:ext cx="804625" cy="2730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84182EE-31DE-B402-1251-85D889300906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 flipH="1">
            <a:off x="4897250" y="2816932"/>
            <a:ext cx="142802" cy="224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6870920-706E-EB25-5667-7AD37FFBD139}"/>
              </a:ext>
            </a:extLst>
          </p:cNvPr>
          <p:cNvCxnSpPr>
            <a:cxnSpLocks/>
            <a:stCxn id="28" idx="5"/>
            <a:endCxn id="16" idx="0"/>
          </p:cNvCxnSpPr>
          <p:nvPr/>
        </p:nvCxnSpPr>
        <p:spPr>
          <a:xfrm>
            <a:off x="5917252" y="2743115"/>
            <a:ext cx="1016706" cy="5974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타원 27">
            <a:extLst>
              <a:ext uri="{FF2B5EF4-FFF2-40B4-BE49-F238E27FC236}">
                <a16:creationId xmlns:a16="http://schemas.microsoft.com/office/drawing/2014/main" id="{D16888F1-41F1-6E6E-05D3-9A2ECA0FFF22}"/>
              </a:ext>
            </a:extLst>
          </p:cNvPr>
          <p:cNvSpPr/>
          <p:nvPr/>
        </p:nvSpPr>
        <p:spPr>
          <a:xfrm>
            <a:off x="5364088" y="2312876"/>
            <a:ext cx="648072" cy="5040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7A9703C-6CA8-300C-CD5F-877F37FB528F}"/>
              </a:ext>
            </a:extLst>
          </p:cNvPr>
          <p:cNvCxnSpPr>
            <a:endCxn id="20" idx="2"/>
          </p:cNvCxnSpPr>
          <p:nvPr/>
        </p:nvCxnSpPr>
        <p:spPr>
          <a:xfrm flipV="1">
            <a:off x="6516216" y="1960228"/>
            <a:ext cx="360040" cy="3526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153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C8430C-1D3B-0E2B-AD74-F6612B52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Edison homepage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583B7C-23C6-34B4-F02F-0CB5A3C2A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lphaLcPeriod" startAt="2"/>
            </a:pPr>
            <a:r>
              <a:rPr lang="ko-KR" altLang="en-US" dirty="0"/>
              <a:t>다양한 앱 활용</a:t>
            </a:r>
            <a:endParaRPr lang="en-US" altLang="ko-KR" dirty="0"/>
          </a:p>
          <a:p>
            <a:pPr lvl="1"/>
            <a:r>
              <a:rPr lang="en-US" altLang="ko-KR" dirty="0"/>
              <a:t>Crystal Viewer</a:t>
            </a:r>
          </a:p>
          <a:p>
            <a:pPr lvl="2"/>
            <a:r>
              <a:rPr lang="ko-KR" altLang="en-US" dirty="0"/>
              <a:t>물질 구조</a:t>
            </a:r>
            <a:r>
              <a:rPr lang="en-US" altLang="ko-KR" dirty="0"/>
              <a:t>, </a:t>
            </a:r>
            <a:r>
              <a:rPr lang="ko-KR" altLang="en-US" dirty="0"/>
              <a:t>전자 밀도 </a:t>
            </a:r>
            <a:r>
              <a:rPr lang="en-US" altLang="ko-KR" dirty="0"/>
              <a:t>(surface cut/projection), Brillouin Zone</a:t>
            </a:r>
          </a:p>
          <a:p>
            <a:pPr lvl="2"/>
            <a:r>
              <a:rPr lang="en-US" altLang="ko-KR" dirty="0"/>
              <a:t>Construction, modification, </a:t>
            </a:r>
            <a:r>
              <a:rPr lang="en-US" altLang="ko-KR" dirty="0" err="1"/>
              <a:t>etc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 err="1"/>
              <a:t>Jupyter</a:t>
            </a:r>
            <a:r>
              <a:rPr lang="en-US" altLang="ko-KR" dirty="0"/>
              <a:t> Notebook</a:t>
            </a:r>
          </a:p>
          <a:p>
            <a:pPr lvl="2"/>
            <a:r>
              <a:rPr lang="en-US" altLang="ko-KR" dirty="0" err="1"/>
              <a:t>Jupyter</a:t>
            </a:r>
            <a:r>
              <a:rPr lang="en-US" altLang="ko-KR" dirty="0"/>
              <a:t> notebook, terminal </a:t>
            </a:r>
            <a:r>
              <a:rPr lang="ko-KR" altLang="en-US" dirty="0"/>
              <a:t>가능 </a:t>
            </a:r>
            <a:r>
              <a:rPr lang="en-US" altLang="ko-KR" dirty="0"/>
              <a:t>(job submit </a:t>
            </a:r>
            <a:r>
              <a:rPr lang="ko-KR" altLang="en-US" dirty="0"/>
              <a:t>안 됨</a:t>
            </a:r>
            <a:r>
              <a:rPr lang="en-US" altLang="ko-KR" dirty="0"/>
              <a:t>) </a:t>
            </a:r>
          </a:p>
          <a:p>
            <a:pPr lvl="1"/>
            <a:r>
              <a:rPr lang="en-US" altLang="ko-KR" dirty="0"/>
              <a:t>File Browser</a:t>
            </a:r>
          </a:p>
          <a:p>
            <a:pPr lvl="2"/>
            <a:r>
              <a:rPr lang="ko-KR" altLang="en-US" dirty="0"/>
              <a:t>고용량 파일 전송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VS Code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여름학교 수업 진행</a:t>
            </a:r>
            <a:endParaRPr lang="en-US" altLang="ko-KR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2"/>
            <a:r>
              <a:rPr lang="en-US" altLang="ko-KR" dirty="0"/>
              <a:t>Job submit </a:t>
            </a:r>
            <a:r>
              <a:rPr lang="ko-KR" altLang="en-US" dirty="0"/>
              <a:t>가능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5363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C9708-B751-8D6A-F753-D20700F43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Edison homepage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217938-AEBE-9DF9-80CB-5E0213CA1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lphaLcPeriod" startAt="3"/>
            </a:pPr>
            <a:r>
              <a:rPr lang="en-US" altLang="ko-KR" dirty="0"/>
              <a:t>Edison site </a:t>
            </a:r>
            <a:r>
              <a:rPr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83E7CA-7F7F-32FC-70CF-07ADB462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35809" y="6933864"/>
            <a:ext cx="2743200" cy="365125"/>
          </a:xfrm>
        </p:spPr>
        <p:txBody>
          <a:bodyPr/>
          <a:lstStyle/>
          <a:p>
            <a:fld id="{4414CB1E-F44B-E24E-952C-8BCFCF61EBC0}" type="slidenum">
              <a:rPr kumimoji="1" lang="ko-KR" altLang="en-US" smtClean="0"/>
              <a:t>4</a:t>
            </a:fld>
            <a:endParaRPr kumimoji="1"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201EAEC-B347-DF1C-387C-0D07EB5B6CCB}"/>
              </a:ext>
            </a:extLst>
          </p:cNvPr>
          <p:cNvSpPr/>
          <p:nvPr/>
        </p:nvSpPr>
        <p:spPr>
          <a:xfrm>
            <a:off x="755576" y="2157912"/>
            <a:ext cx="2034979" cy="7975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EDISON 2.0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BB0C4D5-7F1E-757C-0FD4-EA643AF4FFCB}"/>
              </a:ext>
            </a:extLst>
          </p:cNvPr>
          <p:cNvSpPr/>
          <p:nvPr/>
        </p:nvSpPr>
        <p:spPr>
          <a:xfrm>
            <a:off x="179512" y="4365104"/>
            <a:ext cx="3767109" cy="177404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공용 </a:t>
            </a:r>
            <a:r>
              <a:rPr lang="en-US" altLang="ko-KR" dirty="0"/>
              <a:t>Storage</a:t>
            </a:r>
          </a:p>
          <a:p>
            <a:pPr algn="ctr"/>
            <a:r>
              <a:rPr lang="en-US" altLang="ko-KR" dirty="0"/>
              <a:t>/home/</a:t>
            </a:r>
            <a:r>
              <a:rPr lang="en-US" altLang="ko-KR" dirty="0" err="1"/>
              <a:t>userid</a:t>
            </a:r>
            <a:r>
              <a:rPr lang="en-US" altLang="ko-KR" dirty="0"/>
              <a:t>/.</a:t>
            </a:r>
            <a:r>
              <a:rPr lang="en-US" altLang="ko-KR" dirty="0" err="1"/>
              <a:t>bashrc</a:t>
            </a:r>
            <a:endParaRPr lang="en-US" altLang="ko-KR" dirty="0"/>
          </a:p>
          <a:p>
            <a:pPr algn="ctr"/>
            <a:r>
              <a:rPr lang="en-US" altLang="ko-KR" dirty="0"/>
              <a:t>persistent space</a:t>
            </a:r>
            <a:endParaRPr lang="ko-KR" altLang="en-US" dirty="0"/>
          </a:p>
        </p:txBody>
      </p:sp>
      <p:sp>
        <p:nvSpPr>
          <p:cNvPr id="7" name="화살표: 위쪽/아래쪽 6">
            <a:extLst>
              <a:ext uri="{FF2B5EF4-FFF2-40B4-BE49-F238E27FC236}">
                <a16:creationId xmlns:a16="http://schemas.microsoft.com/office/drawing/2014/main" id="{7CA87F05-0361-8BFA-7781-85B4DE97E30A}"/>
              </a:ext>
            </a:extLst>
          </p:cNvPr>
          <p:cNvSpPr/>
          <p:nvPr/>
        </p:nvSpPr>
        <p:spPr>
          <a:xfrm>
            <a:off x="1763688" y="3324961"/>
            <a:ext cx="219018" cy="711809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26C71-9EBB-E69A-8B38-B5F02F6EF9F6}"/>
              </a:ext>
            </a:extLst>
          </p:cNvPr>
          <p:cNvSpPr txBox="1"/>
          <p:nvPr/>
        </p:nvSpPr>
        <p:spPr>
          <a:xfrm>
            <a:off x="4779060" y="2180834"/>
            <a:ext cx="2196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(similar to docker)</a:t>
            </a:r>
          </a:p>
          <a:p>
            <a:r>
              <a:rPr lang="en-US" altLang="ko-KR" dirty="0"/>
              <a:t>/</a:t>
            </a:r>
            <a:r>
              <a:rPr lang="en-US" altLang="ko-KR" dirty="0" err="1">
                <a:highlight>
                  <a:srgbClr val="FFFF00"/>
                </a:highlight>
              </a:rPr>
              <a:t>Jupyter</a:t>
            </a:r>
            <a:r>
              <a:rPr lang="en-US" altLang="ko-KR" dirty="0">
                <a:highlight>
                  <a:srgbClr val="FFFF00"/>
                </a:highlight>
              </a:rPr>
              <a:t> notebook</a:t>
            </a:r>
          </a:p>
          <a:p>
            <a:r>
              <a:rPr lang="en-US" altLang="ko-KR" dirty="0"/>
              <a:t>/IDE/</a:t>
            </a:r>
            <a:r>
              <a:rPr lang="en-US" altLang="ko-KR" b="1" dirty="0">
                <a:solidFill>
                  <a:srgbClr val="00B050"/>
                </a:solidFill>
              </a:rPr>
              <a:t>VS Code</a:t>
            </a:r>
          </a:p>
          <a:p>
            <a:r>
              <a:rPr lang="en-US" altLang="ko-KR" dirty="0"/>
              <a:t>/File Browser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5F48C3B-5AD0-EBD5-AB20-2850E6B850ED}"/>
              </a:ext>
            </a:extLst>
          </p:cNvPr>
          <p:cNvSpPr/>
          <p:nvPr/>
        </p:nvSpPr>
        <p:spPr>
          <a:xfrm>
            <a:off x="4474745" y="3902500"/>
            <a:ext cx="2592288" cy="225099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POD</a:t>
            </a:r>
          </a:p>
          <a:p>
            <a:pPr algn="ctr"/>
            <a:r>
              <a:rPr lang="en-US" altLang="ko-KR" dirty="0" err="1"/>
              <a:t>Ncpu</a:t>
            </a:r>
            <a:r>
              <a:rPr lang="en-US" altLang="ko-KR" dirty="0"/>
              <a:t> = 4</a:t>
            </a:r>
          </a:p>
          <a:p>
            <a:pPr algn="ctr"/>
            <a:r>
              <a:rPr lang="en-US" altLang="ko-KR" dirty="0"/>
              <a:t>Memory = 2G</a:t>
            </a:r>
          </a:p>
          <a:p>
            <a:pPr algn="ctr"/>
            <a:r>
              <a:rPr lang="en-US" altLang="ko-KR" dirty="0" err="1"/>
              <a:t>Ngpu</a:t>
            </a:r>
            <a:r>
              <a:rPr lang="en-US" altLang="ko-KR" dirty="0"/>
              <a:t> = 1</a:t>
            </a:r>
          </a:p>
          <a:p>
            <a:pPr algn="ctr"/>
            <a:r>
              <a:rPr lang="en-US" altLang="ko-K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Home directory</a:t>
            </a:r>
          </a:p>
          <a:p>
            <a:pPr algn="ctr"/>
            <a:r>
              <a:rPr lang="en-US" altLang="ko-K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root </a:t>
            </a:r>
            <a:r>
              <a:rPr lang="ko-KR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접근불가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826B43FD-24E0-308F-8320-DF0EDC9503A1}"/>
              </a:ext>
            </a:extLst>
          </p:cNvPr>
          <p:cNvSpPr/>
          <p:nvPr/>
        </p:nvSpPr>
        <p:spPr>
          <a:xfrm>
            <a:off x="3140112" y="2373523"/>
            <a:ext cx="711808" cy="24760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5F97B85-F438-CBEA-4DC1-F5A23BE4D457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3946621" y="5252127"/>
            <a:ext cx="985419" cy="26510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138639F-8F2A-2B54-3BE0-C8B1375E18C8}"/>
              </a:ext>
            </a:extLst>
          </p:cNvPr>
          <p:cNvSpPr txBox="1"/>
          <p:nvPr/>
        </p:nvSpPr>
        <p:spPr>
          <a:xfrm>
            <a:off x="1340895" y="1791698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Server</a:t>
            </a:r>
            <a:endParaRPr lang="ko-KR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391019-A5E3-D859-BEEF-88765BDF95F1}"/>
              </a:ext>
            </a:extLst>
          </p:cNvPr>
          <p:cNvSpPr txBox="1"/>
          <p:nvPr/>
        </p:nvSpPr>
        <p:spPr>
          <a:xfrm>
            <a:off x="4870151" y="1791698"/>
            <a:ext cx="2034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POD containers </a:t>
            </a:r>
            <a:endParaRPr lang="ko-KR" altLang="en-US" b="1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8A20799-2507-8680-D4D6-952C8C883700}"/>
              </a:ext>
            </a:extLst>
          </p:cNvPr>
          <p:cNvSpPr/>
          <p:nvPr/>
        </p:nvSpPr>
        <p:spPr>
          <a:xfrm>
            <a:off x="4283968" y="2157912"/>
            <a:ext cx="2997714" cy="1259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813B86-632D-1552-ACD6-AE2E1198B33E}"/>
              </a:ext>
            </a:extLst>
          </p:cNvPr>
          <p:cNvSpPr txBox="1"/>
          <p:nvPr/>
        </p:nvSpPr>
        <p:spPr>
          <a:xfrm>
            <a:off x="5178896" y="3496199"/>
            <a:ext cx="1193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VS Code</a:t>
            </a:r>
            <a:endParaRPr lang="ko-KR" altLang="en-US" b="1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C61B9309-644D-9AF8-EB83-5994FB06294F}"/>
              </a:ext>
            </a:extLst>
          </p:cNvPr>
          <p:cNvSpPr/>
          <p:nvPr/>
        </p:nvSpPr>
        <p:spPr>
          <a:xfrm>
            <a:off x="7236296" y="686150"/>
            <a:ext cx="1728192" cy="9083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원 본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65353C6-5A61-56EE-23AB-E31027FF570B}"/>
              </a:ext>
            </a:extLst>
          </p:cNvPr>
          <p:cNvCxnSpPr>
            <a:stCxn id="33" idx="3"/>
          </p:cNvCxnSpPr>
          <p:nvPr/>
        </p:nvCxnSpPr>
        <p:spPr>
          <a:xfrm flipH="1">
            <a:off x="6905130" y="1461478"/>
            <a:ext cx="584254" cy="696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743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C9708-B751-8D6A-F753-D20700F43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Edison homepage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217938-AEBE-9DF9-80CB-5E0213CA1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lphaLcPeriod" startAt="3"/>
            </a:pPr>
            <a:r>
              <a:rPr lang="en-US" altLang="ko-KR" dirty="0"/>
              <a:t>Edison site </a:t>
            </a:r>
            <a:r>
              <a:rPr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83E7CA-7F7F-32FC-70CF-07ADB462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35809" y="6933864"/>
            <a:ext cx="2743200" cy="365125"/>
          </a:xfrm>
        </p:spPr>
        <p:txBody>
          <a:bodyPr/>
          <a:lstStyle/>
          <a:p>
            <a:fld id="{4414CB1E-F44B-E24E-952C-8BCFCF61EBC0}" type="slidenum">
              <a:rPr kumimoji="1" lang="ko-KR" altLang="en-US" smtClean="0"/>
              <a:t>5</a:t>
            </a:fld>
            <a:endParaRPr kumimoji="1"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C71C2ED-8F26-B996-92C4-80B6F3FFC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2060848"/>
            <a:ext cx="4716016" cy="31336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5BDE184-809A-65A8-AD21-EAA2C743EB25}"/>
              </a:ext>
            </a:extLst>
          </p:cNvPr>
          <p:cNvSpPr txBox="1"/>
          <p:nvPr/>
        </p:nvSpPr>
        <p:spPr>
          <a:xfrm>
            <a:off x="6516216" y="1879371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Slave node</a:t>
            </a:r>
            <a:endParaRPr lang="ko-KR" altLang="en-US" b="1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AA23DAE-F256-E7BF-C06E-E2A491FFF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278" y="2705217"/>
            <a:ext cx="2689131" cy="1684757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6A47A7F-F535-B676-5006-1C948438FBA3}"/>
              </a:ext>
            </a:extLst>
          </p:cNvPr>
          <p:cNvCxnSpPr>
            <a:cxnSpLocks/>
          </p:cNvCxnSpPr>
          <p:nvPr/>
        </p:nvCxnSpPr>
        <p:spPr>
          <a:xfrm>
            <a:off x="4139952" y="2924944"/>
            <a:ext cx="1800200" cy="0"/>
          </a:xfrm>
          <a:prstGeom prst="straightConnector1">
            <a:avLst/>
          </a:prstGeom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A27E946-85AE-6764-A45F-4C015DB6B9D2}"/>
              </a:ext>
            </a:extLst>
          </p:cNvPr>
          <p:cNvSpPr txBox="1"/>
          <p:nvPr/>
        </p:nvSpPr>
        <p:spPr>
          <a:xfrm>
            <a:off x="4725689" y="2512021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Job submit</a:t>
            </a:r>
            <a:endParaRPr lang="ko-KR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857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EB340C-4446-A553-C1C5-CC75B5A73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VS</a:t>
            </a:r>
            <a:r>
              <a:rPr lang="ko-KR" altLang="en-US" dirty="0"/>
              <a:t> </a:t>
            </a:r>
            <a:r>
              <a:rPr lang="en-US" altLang="ko-KR" dirty="0"/>
              <a:t>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3F2113-4D65-4352-60D5-274A6BA28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92" y="1124744"/>
            <a:ext cx="8435280" cy="1728192"/>
          </a:xfrm>
        </p:spPr>
        <p:txBody>
          <a:bodyPr/>
          <a:lstStyle/>
          <a:p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en-US" altLang="ko-KR" dirty="0"/>
              <a:t>Waiting until ready: red line to the full</a:t>
            </a:r>
          </a:p>
          <a:p>
            <a:pPr lvl="2"/>
            <a:r>
              <a:rPr lang="ko-KR" altLang="en-US" dirty="0"/>
              <a:t>바로 열기 </a:t>
            </a:r>
            <a:r>
              <a:rPr lang="en-US" altLang="ko-KR" dirty="0"/>
              <a:t>(</a:t>
            </a:r>
            <a:r>
              <a:rPr lang="ko-KR" altLang="en-US" dirty="0"/>
              <a:t>준비되면 클릭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Opening warning: “restricted mode is intended …</a:t>
            </a:r>
          </a:p>
          <a:p>
            <a:pPr lvl="2"/>
            <a:r>
              <a:rPr lang="en-US" altLang="ko-KR" dirty="0"/>
              <a:t>Check “trust parents folder”</a:t>
            </a:r>
          </a:p>
          <a:p>
            <a:pPr lvl="1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F64A7F8-0EDB-78D5-4E83-205BA3260B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23"/>
          <a:stretch/>
        </p:blipFill>
        <p:spPr>
          <a:xfrm>
            <a:off x="211276" y="3365386"/>
            <a:ext cx="3388616" cy="17281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BAE2F5-B50A-1D35-759F-23894F290A06}"/>
              </a:ext>
            </a:extLst>
          </p:cNvPr>
          <p:cNvSpPr txBox="1"/>
          <p:nvPr/>
        </p:nvSpPr>
        <p:spPr>
          <a:xfrm>
            <a:off x="5364088" y="2879648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/>
              <a:t>VSCode</a:t>
            </a:r>
            <a:r>
              <a:rPr lang="en-US" altLang="ko-KR" b="1" dirty="0"/>
              <a:t> Control</a:t>
            </a:r>
            <a:endParaRPr lang="ko-KR" altLang="en-US" b="1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6441D2D-8D79-D45D-D11D-44EF575D1B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621"/>
          <a:stretch/>
        </p:blipFill>
        <p:spPr>
          <a:xfrm>
            <a:off x="4427984" y="3390619"/>
            <a:ext cx="3622799" cy="133452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BD4F720-63F7-E23D-E872-94DEED56C5A6}"/>
              </a:ext>
            </a:extLst>
          </p:cNvPr>
          <p:cNvSpPr txBox="1"/>
          <p:nvPr/>
        </p:nvSpPr>
        <p:spPr>
          <a:xfrm>
            <a:off x="611560" y="2879648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Click VS Code (beta)</a:t>
            </a:r>
            <a:endParaRPr lang="ko-KR" altLang="en-US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51C9F9D-2DF0-D219-80F2-51BEA21CF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142" y="5093578"/>
            <a:ext cx="2448272" cy="17425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1ED1093-FD50-5ABA-12B7-074379838424}"/>
              </a:ext>
            </a:extLst>
          </p:cNvPr>
          <p:cNvSpPr txBox="1"/>
          <p:nvPr/>
        </p:nvSpPr>
        <p:spPr>
          <a:xfrm>
            <a:off x="5509790" y="4707524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/>
              <a:t>바로열기</a:t>
            </a:r>
            <a:r>
              <a:rPr lang="ko-KR" altLang="en-US" b="1" dirty="0"/>
              <a:t> </a:t>
            </a:r>
            <a:r>
              <a:rPr lang="en-US" altLang="ko-KR" b="1" dirty="0"/>
              <a:t>click</a:t>
            </a:r>
            <a:endParaRPr lang="ko-KR" altLang="en-US" b="1" dirty="0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0F06A6FB-AD44-FD64-104D-D3115EBF9BF5}"/>
              </a:ext>
            </a:extLst>
          </p:cNvPr>
          <p:cNvSpPr/>
          <p:nvPr/>
        </p:nvSpPr>
        <p:spPr>
          <a:xfrm>
            <a:off x="3851920" y="3933056"/>
            <a:ext cx="360040" cy="288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3DFA57FF-903E-F7A9-B2CB-5C890D5FCEF8}"/>
              </a:ext>
            </a:extLst>
          </p:cNvPr>
          <p:cNvSpPr/>
          <p:nvPr/>
        </p:nvSpPr>
        <p:spPr>
          <a:xfrm>
            <a:off x="5004048" y="4797152"/>
            <a:ext cx="216024" cy="2797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928B277-1747-3CDA-4BD8-81FC97E9AD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624" y="5517232"/>
            <a:ext cx="2448273" cy="1184132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29D7CDA-40A0-7406-77C4-DAB8B7F921B9}"/>
              </a:ext>
            </a:extLst>
          </p:cNvPr>
          <p:cNvCxnSpPr/>
          <p:nvPr/>
        </p:nvCxnSpPr>
        <p:spPr>
          <a:xfrm flipV="1">
            <a:off x="3599892" y="4221088"/>
            <a:ext cx="1260140" cy="12961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65E3FDE-5427-A982-BA0C-37EBC5DAE99B}"/>
              </a:ext>
            </a:extLst>
          </p:cNvPr>
          <p:cNvSpPr txBox="1"/>
          <p:nvPr/>
        </p:nvSpPr>
        <p:spPr>
          <a:xfrm>
            <a:off x="3577010" y="4916495"/>
            <a:ext cx="1499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1. POD restart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D027A3-C7BD-C33B-E18F-F3B41CCF934C}"/>
              </a:ext>
            </a:extLst>
          </p:cNvPr>
          <p:cNvSpPr txBox="1"/>
          <p:nvPr/>
        </p:nvSpPr>
        <p:spPr>
          <a:xfrm>
            <a:off x="7812360" y="233926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2. Log in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6D45D5D-E026-46D9-5925-5DCB0B49EDEC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7906767" y="2708592"/>
            <a:ext cx="440355" cy="5375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48DFA8-E004-2BBB-49F1-9EFBACC1510E}"/>
              </a:ext>
            </a:extLst>
          </p:cNvPr>
          <p:cNvSpPr txBox="1"/>
          <p:nvPr/>
        </p:nvSpPr>
        <p:spPr>
          <a:xfrm>
            <a:off x="1569712" y="5147900"/>
            <a:ext cx="186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VS Code Error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47257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EB340C-4446-A553-C1C5-CC75B5A73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VS</a:t>
            </a:r>
            <a:r>
              <a:rPr lang="ko-KR" altLang="en-US" dirty="0"/>
              <a:t> </a:t>
            </a:r>
            <a:r>
              <a:rPr lang="en-US" altLang="ko-KR" dirty="0"/>
              <a:t>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3F2113-4D65-4352-60D5-274A6BA28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lphaLcPeriod" startAt="2"/>
            </a:pPr>
            <a:r>
              <a:rPr lang="en-US" altLang="ko-KR" dirty="0"/>
              <a:t>Panel </a:t>
            </a:r>
          </a:p>
          <a:p>
            <a:pPr lvl="1"/>
            <a:r>
              <a:rPr lang="en-US" altLang="ko-KR" dirty="0"/>
              <a:t>Menu (hamburger icon): </a:t>
            </a:r>
          </a:p>
          <a:p>
            <a:pPr lvl="1"/>
            <a:r>
              <a:rPr lang="en-US" altLang="ko-KR" dirty="0"/>
              <a:t>Terminal </a:t>
            </a:r>
            <a:r>
              <a:rPr lang="ko-KR" altLang="en-US" dirty="0"/>
              <a:t>열기와 화면 분할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C44102-FC99-9BA3-FF47-E026C46CB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1340768"/>
            <a:ext cx="362001" cy="4382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2F1D8FF-6F50-CDAA-CF8C-5D03AA09B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361" y="2420888"/>
            <a:ext cx="3136258" cy="22322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8C75089-7BE9-76A9-FE6F-1759A8C6A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381" y="2445641"/>
            <a:ext cx="3553329" cy="22074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D78607-CBAB-6FF8-ED59-E92F6168D449}"/>
              </a:ext>
            </a:extLst>
          </p:cNvPr>
          <p:cNvSpPr txBox="1"/>
          <p:nvPr/>
        </p:nvSpPr>
        <p:spPr>
          <a:xfrm>
            <a:off x="6014452" y="41490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터미널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71682-2AF3-F9AD-E2B4-593ECC52D1B8}"/>
              </a:ext>
            </a:extLst>
          </p:cNvPr>
          <p:cNvSpPr txBox="1"/>
          <p:nvPr/>
        </p:nvSpPr>
        <p:spPr>
          <a:xfrm>
            <a:off x="2123728" y="292494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편집기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E69A4C-085A-1AA6-33B4-4958F1F6786B}"/>
              </a:ext>
            </a:extLst>
          </p:cNvPr>
          <p:cNvSpPr txBox="1"/>
          <p:nvPr/>
        </p:nvSpPr>
        <p:spPr>
          <a:xfrm>
            <a:off x="6012160" y="255561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편집기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55F56C0-9F7D-B109-876A-379567861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4768" y="5795229"/>
            <a:ext cx="1361328" cy="72086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4892E74-F78A-49B9-43AB-DC7B555756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76" y="5157192"/>
            <a:ext cx="1864074" cy="1426233"/>
          </a:xfrm>
          <a:prstGeom prst="rect">
            <a:avLst/>
          </a:prstGeom>
        </p:spPr>
      </p:pic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E200BD76-06AD-6C9A-44F8-8667739024D6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>
            <a:off x="2619650" y="5870309"/>
            <a:ext cx="1455118" cy="285350"/>
          </a:xfrm>
          <a:prstGeom prst="curvedConnector3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ED1CBC3-F613-F399-0BA8-16C9AFDE53EF}"/>
              </a:ext>
            </a:extLst>
          </p:cNvPr>
          <p:cNvSpPr/>
          <p:nvPr/>
        </p:nvSpPr>
        <p:spPr>
          <a:xfrm>
            <a:off x="5724128" y="5303883"/>
            <a:ext cx="2664296" cy="1426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MobaXterm</a:t>
            </a:r>
            <a:endParaRPr lang="en-US" altLang="ko-KR" dirty="0"/>
          </a:p>
          <a:p>
            <a:pPr algn="ctr"/>
            <a:r>
              <a:rPr lang="en-US" altLang="ko-KR" dirty="0"/>
              <a:t>PuTTY</a:t>
            </a:r>
          </a:p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6C18A-E7F5-6ECB-837B-527FCB65F645}"/>
              </a:ext>
            </a:extLst>
          </p:cNvPr>
          <p:cNvSpPr txBox="1"/>
          <p:nvPr/>
        </p:nvSpPr>
        <p:spPr>
          <a:xfrm>
            <a:off x="6228184" y="4926160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PC (ssh client)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25335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86A227C-FC94-E069-886E-543CA9848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Linux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8BB6782-68A9-076E-B293-C301660D9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040" y="836712"/>
            <a:ext cx="4042792" cy="5544616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lphaLcPeriod" startAt="3"/>
            </a:pPr>
            <a:r>
              <a:rPr lang="en-US" altLang="ko-KR" dirty="0"/>
              <a:t>Important Env variable &amp; setting</a:t>
            </a:r>
          </a:p>
          <a:p>
            <a:pPr lvl="1"/>
            <a:r>
              <a:rPr lang="en-US" altLang="ko-KR" dirty="0"/>
              <a:t>variables</a:t>
            </a:r>
          </a:p>
          <a:p>
            <a:pPr lvl="2"/>
            <a:r>
              <a:rPr lang="en-US" altLang="ko-KR" dirty="0"/>
              <a:t>SHELL</a:t>
            </a:r>
          </a:p>
          <a:p>
            <a:pPr lvl="3"/>
            <a:r>
              <a:rPr lang="en-US" altLang="ko-KR" dirty="0"/>
              <a:t> bash </a:t>
            </a:r>
            <a:r>
              <a:rPr lang="ko-KR" altLang="en-US" dirty="0"/>
              <a:t>이면 </a:t>
            </a:r>
            <a:r>
              <a:rPr lang="en-US" altLang="ko-KR" dirty="0"/>
              <a:t>.</a:t>
            </a:r>
            <a:r>
              <a:rPr lang="en-US" altLang="ko-KR" dirty="0" err="1"/>
              <a:t>bashrc</a:t>
            </a:r>
            <a:r>
              <a:rPr lang="ko-KR" altLang="en-US" dirty="0"/>
              <a:t>가 실행됨</a:t>
            </a:r>
            <a:endParaRPr lang="en-US" altLang="ko-KR" dirty="0"/>
          </a:p>
          <a:p>
            <a:pPr lvl="2"/>
            <a:r>
              <a:rPr lang="en-US" altLang="ko-KR" dirty="0"/>
              <a:t>PATH</a:t>
            </a:r>
          </a:p>
          <a:p>
            <a:pPr lvl="3"/>
            <a:r>
              <a:rPr lang="en-US" altLang="ko-KR" dirty="0"/>
              <a:t> </a:t>
            </a:r>
            <a:r>
              <a:rPr lang="ko-KR" altLang="en-US" dirty="0"/>
              <a:t>오직 </a:t>
            </a:r>
            <a:r>
              <a:rPr lang="en-US" altLang="ko-KR" dirty="0"/>
              <a:t>PATH</a:t>
            </a:r>
            <a:r>
              <a:rPr lang="ko-KR" altLang="en-US" dirty="0"/>
              <a:t>에 잡혀 있는 실행파일만 실행됨</a:t>
            </a:r>
            <a:endParaRPr lang="en-US" altLang="ko-KR" dirty="0"/>
          </a:p>
          <a:p>
            <a:pPr lvl="3"/>
            <a:r>
              <a:rPr lang="en-US" altLang="ko-KR" dirty="0"/>
              <a:t>Setting in .</a:t>
            </a:r>
            <a:r>
              <a:rPr lang="en-US" altLang="ko-KR" dirty="0" err="1"/>
              <a:t>bashrc</a:t>
            </a:r>
            <a:endParaRPr lang="en-US" altLang="ko-KR" dirty="0"/>
          </a:p>
          <a:p>
            <a:pPr lvl="3"/>
            <a:r>
              <a:rPr lang="en-US" altLang="ko-KR" dirty="0"/>
              <a:t>export PATH=$</a:t>
            </a:r>
            <a:r>
              <a:rPr lang="en-US" altLang="ko-KR" dirty="0" err="1"/>
              <a:t>PATH:new_dir</a:t>
            </a:r>
            <a:endParaRPr lang="en-US" altLang="ko-KR" dirty="0"/>
          </a:p>
          <a:p>
            <a:pPr lvl="2"/>
            <a:r>
              <a:rPr lang="en-US" altLang="ko-KR" dirty="0"/>
              <a:t>PYTHONPATH</a:t>
            </a:r>
          </a:p>
          <a:p>
            <a:pPr lvl="3"/>
            <a:r>
              <a:rPr lang="en-US" altLang="ko-KR" dirty="0"/>
              <a:t> </a:t>
            </a:r>
            <a:r>
              <a:rPr lang="ko-KR" altLang="en-US" dirty="0"/>
              <a:t>여기에 잡혀 있는 모든 </a:t>
            </a:r>
            <a:r>
              <a:rPr lang="en-US" altLang="ko-KR" dirty="0"/>
              <a:t>python </a:t>
            </a:r>
            <a:r>
              <a:rPr lang="en-US" altLang="ko-KR" dirty="0" err="1"/>
              <a:t>modul</a:t>
            </a:r>
            <a:r>
              <a:rPr lang="ko-KR" altLang="en-US" dirty="0"/>
              <a:t>들은 </a:t>
            </a:r>
            <a:r>
              <a:rPr lang="en-US" altLang="ko-KR" dirty="0"/>
              <a:t>import </a:t>
            </a:r>
            <a:r>
              <a:rPr lang="ko-KR" altLang="en-US" dirty="0"/>
              <a:t>될 수 있음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cf.</a:t>
            </a:r>
            <a:r>
              <a:rPr lang="ko-KR" altLang="en-US" dirty="0"/>
              <a:t> 만일 </a:t>
            </a:r>
            <a:r>
              <a:rPr lang="en-US" altLang="ko-KR" dirty="0"/>
              <a:t>module</a:t>
            </a:r>
            <a:r>
              <a:rPr lang="ko-KR" altLang="en-US" dirty="0"/>
              <a:t>과 </a:t>
            </a:r>
            <a:r>
              <a:rPr lang="en-US" altLang="ko-KR" dirty="0"/>
              <a:t>running script</a:t>
            </a:r>
            <a:r>
              <a:rPr lang="ko-KR" altLang="en-US" dirty="0"/>
              <a:t>가 같은 </a:t>
            </a:r>
            <a:r>
              <a:rPr lang="en-US" altLang="ko-KR" dirty="0" err="1"/>
              <a:t>dir</a:t>
            </a:r>
            <a:r>
              <a:rPr lang="ko-KR" altLang="en-US" dirty="0"/>
              <a:t>에 있으면 둘 다 잡아줘야 됨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PS1 	# prompt setting</a:t>
            </a:r>
          </a:p>
          <a:p>
            <a:pPr lvl="1"/>
            <a:r>
              <a:rPr lang="en-US" altLang="ko-KR" dirty="0"/>
              <a:t>Related command</a:t>
            </a:r>
          </a:p>
          <a:p>
            <a:pPr lvl="2"/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export</a:t>
            </a:r>
            <a:r>
              <a:rPr lang="en-US" altLang="ko-KR" dirty="0"/>
              <a:t> var  # var 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광역변수</a:t>
            </a:r>
            <a:endParaRPr lang="en-US" altLang="ko-KR" dirty="0">
              <a:solidFill>
                <a:srgbClr val="0000FF"/>
              </a:solidFill>
              <a:latin typeface="Droid Sans Mono"/>
            </a:endParaRPr>
          </a:p>
          <a:p>
            <a:pPr lvl="2"/>
            <a:r>
              <a:rPr lang="ko-KR" altLang="en-US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source</a:t>
            </a:r>
            <a:r>
              <a:rPr lang="ko-KR" altLang="en-US" dirty="0"/>
              <a:t> </a:t>
            </a:r>
            <a:r>
              <a:rPr lang="en-US" altLang="ko-KR" dirty="0"/>
              <a:t>script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/>
              <a:t> </a:t>
            </a:r>
            <a:r>
              <a:rPr lang="en-US" altLang="ko-KR" dirty="0"/>
              <a:t>bash script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3"/>
            <a:r>
              <a:rPr lang="en-US" altLang="ko-KR" dirty="0"/>
              <a:t>source .</a:t>
            </a:r>
            <a:r>
              <a:rPr lang="en-US" altLang="ko-KR" dirty="0" err="1"/>
              <a:t>bashrc</a:t>
            </a:r>
            <a:endParaRPr lang="en-US" altLang="ko-KR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880793E8-DA52-FEF7-3988-5941D3A1AB3E}"/>
              </a:ext>
            </a:extLst>
          </p:cNvPr>
          <p:cNvSpPr txBox="1">
            <a:spLocks/>
          </p:cNvSpPr>
          <p:nvPr/>
        </p:nvSpPr>
        <p:spPr>
          <a:xfrm>
            <a:off x="385192" y="836712"/>
            <a:ext cx="4042792" cy="57606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457200" indent="-457200" algn="l" defTabSz="914400" rtl="0" eaLnBrk="1" latinLnBrk="1" hangingPunct="1">
              <a:spcBef>
                <a:spcPct val="20000"/>
              </a:spcBef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914400" indent="-4572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171700" indent="-3429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Linux </a:t>
            </a:r>
            <a:r>
              <a:rPr lang="ko-KR" altLang="en-US" dirty="0"/>
              <a:t>환경</a:t>
            </a:r>
            <a:endParaRPr lang="en-US" altLang="ko-KR" dirty="0"/>
          </a:p>
          <a:p>
            <a:pPr lvl="1"/>
            <a:r>
              <a:rPr lang="en-US" altLang="ko-KR" dirty="0"/>
              <a:t>X-window vs</a:t>
            </a:r>
            <a:r>
              <a:rPr lang="ko-KR" altLang="en-US" dirty="0"/>
              <a:t> </a:t>
            </a:r>
            <a:r>
              <a:rPr lang="en-US" altLang="ko-KR" dirty="0"/>
              <a:t>Terminal</a:t>
            </a:r>
          </a:p>
          <a:p>
            <a:pPr lvl="2"/>
            <a:r>
              <a:rPr lang="en-US" altLang="ko-KR" dirty="0"/>
              <a:t> terminal: cli (command line interface)</a:t>
            </a:r>
          </a:p>
          <a:p>
            <a:pPr lvl="1"/>
            <a:r>
              <a:rPr lang="en-US" altLang="ko-KR" dirty="0"/>
              <a:t>SHELL as </a:t>
            </a:r>
            <a:r>
              <a:rPr lang="en-US" altLang="ko-KR" dirty="0">
                <a:sym typeface="Wingdings" panose="05000000000000000000" pitchFamily="2" charset="2"/>
              </a:rPr>
              <a:t>operating system</a:t>
            </a:r>
            <a:endParaRPr lang="en-US" altLang="ko-KR" dirty="0"/>
          </a:p>
          <a:p>
            <a:pPr lvl="2"/>
            <a:r>
              <a:rPr lang="en-US" altLang="ko-KR" dirty="0"/>
              <a:t>echo </a:t>
            </a:r>
            <a:r>
              <a:rPr lang="en-US" altLang="ko-KR" dirty="0">
                <a:solidFill>
                  <a:srgbClr val="FF0000"/>
                </a:solidFill>
              </a:rPr>
              <a:t>$</a:t>
            </a:r>
            <a:r>
              <a:rPr lang="en-US" altLang="ko-KR" dirty="0"/>
              <a:t>SHELL   </a:t>
            </a:r>
            <a:r>
              <a:rPr lang="en-US" altLang="ko-KR" dirty="0">
                <a:sym typeface="Wingdings" panose="05000000000000000000" pitchFamily="2" charset="2"/>
              </a:rPr>
              <a:t> /bin/bash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Root vs user</a:t>
            </a:r>
          </a:p>
          <a:p>
            <a:pPr lvl="2"/>
            <a:r>
              <a:rPr lang="en-US" altLang="ko-KR" dirty="0"/>
              <a:t>/ 	#</a:t>
            </a:r>
            <a:r>
              <a:rPr lang="en-US" altLang="ko-KR" dirty="0">
                <a:sym typeface="Wingdings" panose="05000000000000000000" pitchFamily="2" charset="2"/>
              </a:rPr>
              <a:t> root by root manager</a:t>
            </a:r>
          </a:p>
          <a:p>
            <a:pPr lvl="3"/>
            <a:r>
              <a:rPr lang="en-US" altLang="ko-KR" dirty="0"/>
              <a:t>Many other …</a:t>
            </a:r>
          </a:p>
          <a:p>
            <a:pPr lvl="2"/>
            <a:r>
              <a:rPr lang="en-US" altLang="ko-KR" dirty="0"/>
              <a:t>/home/</a:t>
            </a:r>
            <a:r>
              <a:rPr lang="en-US" altLang="ko-KR" dirty="0" err="1"/>
              <a:t>userid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	#  User Home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.</a:t>
            </a:r>
            <a:r>
              <a:rPr lang="en-US" altLang="ko-KR" dirty="0" err="1">
                <a:sym typeface="Wingdings" panose="05000000000000000000" pitchFamily="2" charset="2"/>
              </a:rPr>
              <a:t>bashrc</a:t>
            </a:r>
            <a:r>
              <a:rPr lang="en-US" altLang="ko-KR" dirty="0">
                <a:sym typeface="Wingdings" panose="05000000000000000000" pitchFamily="2" charset="2"/>
              </a:rPr>
              <a:t>	# hidden, in case bash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last running script in booting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초기 설정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터미널 열 때마다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  </a:t>
            </a:r>
            <a:r>
              <a:rPr lang="ko-KR" altLang="en-US" dirty="0"/>
              <a:t>파일 제거 시 재생 안 됨</a:t>
            </a:r>
            <a:endParaRPr lang="en-US" altLang="ko-KR" dirty="0"/>
          </a:p>
          <a:p>
            <a:r>
              <a:rPr lang="en-US" altLang="ko-KR" dirty="0"/>
              <a:t>Basic command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ls</a:t>
            </a:r>
            <a:r>
              <a:rPr lang="en-US" altLang="ko-KR" dirty="0"/>
              <a:t>	#</a:t>
            </a:r>
            <a:r>
              <a:rPr lang="ko-KR" altLang="en-US" dirty="0"/>
              <a:t> </a:t>
            </a:r>
            <a:r>
              <a:rPr lang="en-US" altLang="ko-KR" dirty="0"/>
              <a:t>list, </a:t>
            </a:r>
            <a:r>
              <a:rPr lang="ko-KR" altLang="en-US" dirty="0"/>
              <a:t>폴더 보기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which</a:t>
            </a:r>
            <a:r>
              <a:rPr lang="en-US" altLang="ko-KR" dirty="0"/>
              <a:t> ls	# find command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echo</a:t>
            </a:r>
            <a:r>
              <a:rPr lang="en-US" altLang="ko-KR" dirty="0"/>
              <a:t> $var # write</a:t>
            </a:r>
          </a:p>
          <a:p>
            <a:pPr lvl="1"/>
            <a:r>
              <a:rPr lang="en-US" altLang="ko-KR" dirty="0"/>
              <a:t>(continued)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1311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86A227C-FC94-E069-886E-543CA9848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Linux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8BB6782-68A9-076E-B293-C301660D9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1696" y="1664804"/>
            <a:ext cx="4042792" cy="2196244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altLang="ko-KR" dirty="0">
                <a:solidFill>
                  <a:srgbClr val="0A3069"/>
                </a:solidFill>
                <a:latin typeface="Droid Sans Mono"/>
              </a:rPr>
              <a:t>dir, file </a:t>
            </a:r>
            <a:r>
              <a:rPr lang="ko-KR" altLang="en-US" dirty="0">
                <a:solidFill>
                  <a:srgbClr val="0A3069"/>
                </a:solidFill>
                <a:latin typeface="Droid Sans Mono"/>
              </a:rPr>
              <a:t>종류 등 색 구별</a:t>
            </a:r>
            <a:endParaRPr lang="es-ES" altLang="ko-KR" b="0" dirty="0">
              <a:solidFill>
                <a:srgbClr val="202020"/>
              </a:solidFill>
              <a:effectLst/>
              <a:latin typeface="Droid Sans Mono"/>
            </a:endParaRPr>
          </a:p>
          <a:p>
            <a:pPr marL="0" indent="0">
              <a:buNone/>
            </a:pPr>
            <a:r>
              <a:rPr lang="es-ES" altLang="ko-KR" sz="1600" b="0" dirty="0">
                <a:solidFill>
                  <a:srgbClr val="CF222E"/>
                </a:solidFill>
                <a:effectLst/>
                <a:latin typeface="Droid Sans Mono"/>
              </a:rPr>
              <a:t>alias</a:t>
            </a:r>
            <a:r>
              <a:rPr lang="es-ES" altLang="ko-KR" sz="1600" b="0" dirty="0">
                <a:solidFill>
                  <a:srgbClr val="202020"/>
                </a:solidFill>
                <a:effectLst/>
                <a:latin typeface="Droid Sans Mono"/>
              </a:rPr>
              <a:t> </a:t>
            </a:r>
            <a:r>
              <a:rPr lang="es-ES" altLang="ko-KR" sz="1600" b="0" dirty="0">
                <a:solidFill>
                  <a:srgbClr val="953800"/>
                </a:solidFill>
                <a:effectLst/>
                <a:latin typeface="Droid Sans Mono"/>
              </a:rPr>
              <a:t>ls</a:t>
            </a:r>
            <a:r>
              <a:rPr lang="es-ES" altLang="ko-KR" sz="1600" b="0" dirty="0">
                <a:solidFill>
                  <a:srgbClr val="000000"/>
                </a:solidFill>
                <a:effectLst/>
                <a:latin typeface="Droid Sans Mono"/>
              </a:rPr>
              <a:t>=</a:t>
            </a:r>
            <a:r>
              <a:rPr lang="es-ES" altLang="ko-KR" sz="1600" b="0" dirty="0">
                <a:solidFill>
                  <a:srgbClr val="0A3069"/>
                </a:solidFill>
                <a:effectLst/>
                <a:latin typeface="Droid Sans Mono"/>
              </a:rPr>
              <a:t>'ls --color=auto‘</a:t>
            </a:r>
          </a:p>
          <a:p>
            <a:pPr marL="0" indent="0">
              <a:buNone/>
            </a:pPr>
            <a:endParaRPr lang="es-ES" altLang="ko-KR" sz="1600" b="0" dirty="0">
              <a:solidFill>
                <a:srgbClr val="0A3069"/>
              </a:solidFill>
              <a:effectLst/>
              <a:latin typeface="Droid Sans Mono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dirty="0"/>
              <a:t>prompt </a:t>
            </a:r>
            <a:r>
              <a:rPr lang="ko-KR" altLang="en-US" dirty="0"/>
              <a:t>색을 바꾸고</a:t>
            </a:r>
            <a:r>
              <a:rPr lang="en-US" altLang="ko-KR" dirty="0"/>
              <a:t>, </a:t>
            </a:r>
            <a:r>
              <a:rPr lang="en-US" altLang="ko-KR" dirty="0" err="1"/>
              <a:t>dir</a:t>
            </a:r>
            <a:r>
              <a:rPr lang="en-US" altLang="ko-KR" dirty="0"/>
              <a:t> </a:t>
            </a:r>
            <a:r>
              <a:rPr lang="ko-KR" altLang="en-US" dirty="0"/>
              <a:t>표기</a:t>
            </a:r>
            <a:r>
              <a:rPr lang="en-US" altLang="ko-KR" dirty="0"/>
              <a:t> </a:t>
            </a:r>
            <a:endParaRPr lang="ko-KR" altLang="en-US" dirty="0"/>
          </a:p>
          <a:p>
            <a:pPr marL="0" indent="0">
              <a:buNone/>
            </a:pPr>
            <a:r>
              <a:rPr lang="en-US" altLang="ko-KR" sz="1600" b="0" dirty="0">
                <a:solidFill>
                  <a:srgbClr val="0000FF"/>
                </a:solidFill>
                <a:effectLst/>
                <a:latin typeface="Droid Sans Mono"/>
              </a:rPr>
              <a:t>export</a:t>
            </a:r>
            <a:r>
              <a:rPr lang="en-US" altLang="ko-KR" sz="1600" b="0" dirty="0">
                <a:solidFill>
                  <a:srgbClr val="202020"/>
                </a:solidFill>
                <a:effectLst/>
                <a:latin typeface="Droid Sans Mono"/>
              </a:rPr>
              <a:t> </a:t>
            </a:r>
            <a:r>
              <a:rPr lang="en-US" altLang="ko-KR" sz="1600" b="0" dirty="0">
                <a:solidFill>
                  <a:srgbClr val="953800"/>
                </a:solidFill>
                <a:effectLst/>
                <a:latin typeface="Droid Sans Mono"/>
              </a:rPr>
              <a:t>PS1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Droid Sans Mono"/>
              </a:rPr>
              <a:t>=</a:t>
            </a:r>
            <a:r>
              <a:rPr lang="en-US" altLang="ko-KR" sz="1600" b="0" dirty="0">
                <a:solidFill>
                  <a:srgbClr val="0A3069"/>
                </a:solidFill>
                <a:effectLst/>
                <a:latin typeface="Droid Sans Mono"/>
              </a:rPr>
              <a:t>"\[\e[32m\]\u@\h:\[\e[34m\]\w\[\e[0m\] 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Droid Sans Mono"/>
              </a:rPr>
              <a:t>\$</a:t>
            </a:r>
            <a:r>
              <a:rPr lang="en-US" altLang="ko-KR" sz="1600" b="0" dirty="0">
                <a:solidFill>
                  <a:srgbClr val="0A3069"/>
                </a:solidFill>
                <a:effectLst/>
                <a:latin typeface="Droid Sans Mono"/>
              </a:rPr>
              <a:t> "</a:t>
            </a:r>
            <a:endParaRPr lang="en-US" altLang="ko-KR" sz="1600" b="0" dirty="0">
              <a:solidFill>
                <a:srgbClr val="202020"/>
              </a:solidFill>
              <a:effectLst/>
              <a:latin typeface="Droid Sans Mono"/>
            </a:endParaRPr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880793E8-DA52-FEF7-3988-5941D3A1AB3E}"/>
              </a:ext>
            </a:extLst>
          </p:cNvPr>
          <p:cNvSpPr txBox="1">
            <a:spLocks/>
          </p:cNvSpPr>
          <p:nvPr/>
        </p:nvSpPr>
        <p:spPr>
          <a:xfrm>
            <a:off x="323528" y="4444705"/>
            <a:ext cx="4042792" cy="21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1" hangingPunct="1">
              <a:spcBef>
                <a:spcPct val="20000"/>
              </a:spcBef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914400" indent="-4572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171700" indent="-3429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lphaLcPeriod" startAt="2"/>
            </a:pPr>
            <a:r>
              <a:rPr lang="en-US" altLang="ko-KR" dirty="0"/>
              <a:t>Basic command</a:t>
            </a:r>
          </a:p>
          <a:p>
            <a:pPr lvl="1"/>
            <a:r>
              <a:rPr lang="en-US" altLang="ko-KR" dirty="0"/>
              <a:t> ls	#</a:t>
            </a:r>
            <a:r>
              <a:rPr lang="ko-KR" altLang="en-US" dirty="0"/>
              <a:t> </a:t>
            </a:r>
            <a:r>
              <a:rPr lang="en-US" altLang="ko-KR" dirty="0"/>
              <a:t>list, </a:t>
            </a:r>
            <a:r>
              <a:rPr lang="ko-KR" altLang="en-US" dirty="0"/>
              <a:t>폴더 보기</a:t>
            </a:r>
            <a:endParaRPr lang="en-US" altLang="ko-KR" dirty="0"/>
          </a:p>
          <a:p>
            <a:pPr lvl="2"/>
            <a:r>
              <a:rPr lang="en-US" altLang="ko-KR" dirty="0"/>
              <a:t>-a (all), -l (long)	# options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pwd</a:t>
            </a:r>
            <a:r>
              <a:rPr lang="en-US" altLang="ko-KR" dirty="0"/>
              <a:t>	# present working </a:t>
            </a:r>
            <a:r>
              <a:rPr lang="en-US" altLang="ko-KR" dirty="0" err="1"/>
              <a:t>dir</a:t>
            </a:r>
            <a:endParaRPr lang="en-US" altLang="ko-KR" dirty="0"/>
          </a:p>
          <a:p>
            <a:pPr lvl="1"/>
            <a:r>
              <a:rPr lang="en-US" altLang="ko-KR" dirty="0"/>
              <a:t> which	# find command</a:t>
            </a:r>
          </a:p>
          <a:p>
            <a:pPr lvl="1"/>
            <a:r>
              <a:rPr lang="en-US" altLang="ko-KR" dirty="0"/>
              <a:t> echo	# write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737748-E70A-0189-EA01-D726522C1DD8}"/>
              </a:ext>
            </a:extLst>
          </p:cNvPr>
          <p:cNvSpPr txBox="1"/>
          <p:nvPr/>
        </p:nvSpPr>
        <p:spPr>
          <a:xfrm>
            <a:off x="4921696" y="4067780"/>
            <a:ext cx="2762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Variable setting in bash</a:t>
            </a:r>
            <a:endParaRPr lang="ko-KR" altLang="en-US" b="1" dirty="0"/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6A8DEBFC-DFC4-A900-00EA-97971F8B20BF}"/>
              </a:ext>
            </a:extLst>
          </p:cNvPr>
          <p:cNvSpPr txBox="1">
            <a:spLocks/>
          </p:cNvSpPr>
          <p:nvPr/>
        </p:nvSpPr>
        <p:spPr>
          <a:xfrm>
            <a:off x="385192" y="1124742"/>
            <a:ext cx="4186808" cy="4680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1" hangingPunct="1">
              <a:spcBef>
                <a:spcPct val="20000"/>
              </a:spcBef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914400" indent="-4572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171700" indent="-3429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lphaLcPeriod" startAt="4"/>
            </a:pPr>
            <a:r>
              <a:rPr lang="en-US" altLang="ko-KR" dirty="0"/>
              <a:t>Development tool (command)</a:t>
            </a:r>
          </a:p>
          <a:p>
            <a:pPr lvl="1"/>
            <a:r>
              <a:rPr lang="en-US" altLang="ko-KR" dirty="0"/>
              <a:t>  </a:t>
            </a:r>
            <a:r>
              <a:rPr lang="en-US" altLang="ko-KR" dirty="0">
                <a:solidFill>
                  <a:srgbClr val="FF0000"/>
                </a:solidFill>
              </a:rPr>
              <a:t>git</a:t>
            </a:r>
            <a:r>
              <a:rPr lang="en-US" altLang="ko-KR" dirty="0"/>
              <a:t>	# git </a:t>
            </a:r>
            <a:r>
              <a:rPr lang="ko-KR" altLang="en-US" dirty="0"/>
              <a:t>저장소와 연결</a:t>
            </a:r>
            <a:endParaRPr lang="en-US" altLang="ko-KR" dirty="0"/>
          </a:p>
          <a:p>
            <a:pPr lvl="2"/>
            <a:r>
              <a:rPr lang="en-US" altLang="ko-KR" dirty="0"/>
              <a:t> git clone </a:t>
            </a:r>
            <a:r>
              <a:rPr lang="en-US" altLang="ko-KR" dirty="0" err="1"/>
              <a:t>repo_address</a:t>
            </a:r>
            <a:endParaRPr lang="en-US" altLang="ko-KR" dirty="0"/>
          </a:p>
          <a:p>
            <a:pPr lvl="2"/>
            <a:r>
              <a:rPr lang="en-US" altLang="ko-KR" dirty="0"/>
              <a:t> git pull	# inside git repo</a:t>
            </a:r>
          </a:p>
          <a:p>
            <a:pPr lvl="1"/>
            <a:r>
              <a:rPr lang="en-US" altLang="ko-KR" dirty="0" err="1"/>
              <a:t>conda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(Edison </a:t>
            </a:r>
            <a:r>
              <a:rPr lang="ko-KR" altLang="en-US" dirty="0"/>
              <a:t>에서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 err="1"/>
              <a:t>conda</a:t>
            </a:r>
            <a:r>
              <a:rPr lang="en-US" altLang="ko-KR" dirty="0"/>
              <a:t> </a:t>
            </a:r>
            <a:r>
              <a:rPr lang="en-US" altLang="ko-KR" dirty="0" err="1"/>
              <a:t>init</a:t>
            </a:r>
            <a:r>
              <a:rPr lang="en-US" altLang="ko-KR" dirty="0"/>
              <a:t>   # write .</a:t>
            </a:r>
            <a:r>
              <a:rPr lang="en-US" altLang="ko-KR" dirty="0" err="1"/>
              <a:t>bashrc</a:t>
            </a:r>
            <a:endParaRPr lang="en-US" altLang="ko-KR" dirty="0"/>
          </a:p>
          <a:p>
            <a:pPr lvl="2"/>
            <a:r>
              <a:rPr lang="en-US" altLang="ko-KR" dirty="0"/>
              <a:t>source .</a:t>
            </a:r>
            <a:r>
              <a:rPr lang="en-US" altLang="ko-KR" dirty="0" err="1"/>
              <a:t>bashrc</a:t>
            </a:r>
            <a:r>
              <a:rPr lang="en-US" altLang="ko-KR" dirty="0"/>
              <a:t> # </a:t>
            </a:r>
            <a:r>
              <a:rPr lang="en-US" altLang="ko-KR" dirty="0" err="1"/>
              <a:t>conda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2"/>
            <a:r>
              <a:rPr lang="en-US" altLang="ko-KR" dirty="0" err="1"/>
              <a:t>cf</a:t>
            </a:r>
            <a:endParaRPr lang="en-US" altLang="ko-KR" dirty="0"/>
          </a:p>
          <a:p>
            <a:pPr lvl="3"/>
            <a:r>
              <a:rPr lang="en-US" altLang="ko-KR" dirty="0"/>
              <a:t> </a:t>
            </a:r>
            <a:r>
              <a:rPr lang="en-US" altLang="ko-KR" dirty="0" err="1"/>
              <a:t>conda</a:t>
            </a:r>
            <a:r>
              <a:rPr lang="en-US" altLang="ko-KR" dirty="0"/>
              <a:t> deactivate</a:t>
            </a:r>
          </a:p>
          <a:p>
            <a:pPr lvl="3"/>
            <a:r>
              <a:rPr lang="en-US" altLang="ko-KR" dirty="0"/>
              <a:t> </a:t>
            </a:r>
            <a:r>
              <a:rPr lang="en-US" altLang="ko-KR" dirty="0" err="1"/>
              <a:t>conda</a:t>
            </a:r>
            <a:r>
              <a:rPr lang="en-US" altLang="ko-KR" dirty="0"/>
              <a:t> activate</a:t>
            </a:r>
          </a:p>
          <a:p>
            <a:pPr lvl="1"/>
            <a:r>
              <a:rPr lang="en-US" altLang="ko-KR" dirty="0" err="1"/>
              <a:t>sbatch</a:t>
            </a:r>
            <a:r>
              <a:rPr lang="en-US" altLang="ko-KR" dirty="0"/>
              <a:t>	# job</a:t>
            </a:r>
            <a:r>
              <a:rPr lang="ko-KR" altLang="en-US" dirty="0"/>
              <a:t>을 </a:t>
            </a:r>
            <a:r>
              <a:rPr lang="en-US" altLang="ko-KR" dirty="0"/>
              <a:t>queue</a:t>
            </a:r>
            <a:r>
              <a:rPr lang="ko-KR" altLang="en-US" dirty="0"/>
              <a:t>에 넣음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EDF8B1-14A8-D262-FBE1-95033C6664BB}"/>
              </a:ext>
            </a:extLst>
          </p:cNvPr>
          <p:cNvSpPr txBox="1"/>
          <p:nvPr/>
        </p:nvSpPr>
        <p:spPr>
          <a:xfrm>
            <a:off x="4921696" y="1124744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.</a:t>
            </a:r>
            <a:r>
              <a:rPr lang="en-US" altLang="ko-KR" b="1" dirty="0" err="1"/>
              <a:t>bashrc</a:t>
            </a:r>
            <a:r>
              <a:rPr lang="en-US" altLang="ko-KR" b="1" dirty="0"/>
              <a:t> </a:t>
            </a:r>
            <a:r>
              <a:rPr lang="ko-KR" altLang="en-US" b="1" dirty="0"/>
              <a:t>세팅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852959-C9A6-49B1-2886-1FF9D6193F34}"/>
              </a:ext>
            </a:extLst>
          </p:cNvPr>
          <p:cNvSpPr txBox="1"/>
          <p:nvPr/>
        </p:nvSpPr>
        <p:spPr>
          <a:xfrm>
            <a:off x="4968044" y="4517129"/>
            <a:ext cx="3816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 no space at both sides of ‘=‘</a:t>
            </a:r>
          </a:p>
          <a:p>
            <a:r>
              <a:rPr lang="en-US" altLang="ko-KR" dirty="0"/>
              <a:t>a=3</a:t>
            </a:r>
          </a:p>
          <a:p>
            <a:r>
              <a:rPr lang="en-US" altLang="ko-KR" dirty="0"/>
              <a:t>b=‘hello’	</a:t>
            </a:r>
          </a:p>
        </p:txBody>
      </p:sp>
    </p:spTree>
    <p:extLst>
      <p:ext uri="{BB962C8B-B14F-4D97-AF65-F5344CB8AC3E}">
        <p14:creationId xmlns:p14="http://schemas.microsoft.com/office/powerpoint/2010/main" val="3519194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86A227C-FC94-E069-886E-543CA9848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Linux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21B69A7-F8D3-F633-A9F1-B9A7C7D50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92" y="1124744"/>
            <a:ext cx="4546848" cy="5256584"/>
          </a:xfrm>
        </p:spPr>
        <p:txBody>
          <a:bodyPr>
            <a:normAutofit/>
          </a:bodyPr>
          <a:lstStyle/>
          <a:p>
            <a:pPr>
              <a:buFont typeface="+mj-lt"/>
              <a:buAutoNum type="alphaLcPeriod" startAt="2"/>
            </a:pPr>
            <a:r>
              <a:rPr lang="en-US" altLang="ko-KR" dirty="0"/>
              <a:t>Basic command</a:t>
            </a:r>
          </a:p>
          <a:p>
            <a:pPr lvl="1"/>
            <a:r>
              <a:rPr lang="en-US" altLang="ko-KR" dirty="0" err="1"/>
              <a:t>pwd</a:t>
            </a:r>
            <a:r>
              <a:rPr lang="en-US" altLang="ko-KR" dirty="0"/>
              <a:t>	# show present working </a:t>
            </a:r>
            <a:r>
              <a:rPr lang="en-US" altLang="ko-KR" dirty="0" err="1"/>
              <a:t>dir</a:t>
            </a:r>
            <a:endParaRPr lang="en-US" altLang="ko-KR" dirty="0"/>
          </a:p>
          <a:p>
            <a:pPr lvl="1"/>
            <a:r>
              <a:rPr lang="en-US" altLang="ko-KR" dirty="0"/>
              <a:t> ls	#</a:t>
            </a:r>
            <a:r>
              <a:rPr lang="ko-KR" altLang="en-US" dirty="0"/>
              <a:t> </a:t>
            </a:r>
            <a:r>
              <a:rPr lang="en-US" altLang="ko-KR" dirty="0"/>
              <a:t>list, </a:t>
            </a:r>
            <a:r>
              <a:rPr lang="ko-KR" altLang="en-US" dirty="0"/>
              <a:t>폴더 보기</a:t>
            </a:r>
            <a:endParaRPr lang="en-US" altLang="ko-KR" dirty="0"/>
          </a:p>
          <a:p>
            <a:pPr lvl="2"/>
            <a:r>
              <a:rPr lang="en-US" altLang="ko-KR" dirty="0"/>
              <a:t>-a (all), -l (long)	# options</a:t>
            </a:r>
          </a:p>
          <a:p>
            <a:pPr lvl="1"/>
            <a:r>
              <a:rPr lang="en-US" altLang="ko-KR" dirty="0"/>
              <a:t> cd	# change directory</a:t>
            </a:r>
          </a:p>
          <a:p>
            <a:pPr lvl="1"/>
            <a:r>
              <a:rPr lang="en-US" altLang="ko-KR" dirty="0" err="1"/>
              <a:t>mkdir</a:t>
            </a:r>
            <a:r>
              <a:rPr lang="en-US" altLang="ko-KR" dirty="0"/>
              <a:t>	# make directory </a:t>
            </a:r>
          </a:p>
          <a:p>
            <a:pPr lvl="1"/>
            <a:r>
              <a:rPr lang="en-US" altLang="ko-KR" dirty="0"/>
              <a:t>echo	# write</a:t>
            </a:r>
          </a:p>
          <a:p>
            <a:pPr lvl="1"/>
            <a:r>
              <a:rPr lang="en-US" altLang="ko-KR" dirty="0"/>
              <a:t>which	# find command</a:t>
            </a:r>
          </a:p>
          <a:p>
            <a:pPr lvl="1"/>
            <a:r>
              <a:rPr lang="en-US" altLang="ko-KR" dirty="0"/>
              <a:t> rm	# remove </a:t>
            </a:r>
            <a:r>
              <a:rPr lang="ko-KR" altLang="en-US" dirty="0"/>
              <a:t>파일</a:t>
            </a:r>
            <a:r>
              <a:rPr lang="en-US" altLang="ko-KR" dirty="0"/>
              <a:t>-glob </a:t>
            </a:r>
            <a:r>
              <a:rPr lang="ko-KR" altLang="en-US" dirty="0"/>
              <a:t>이용</a:t>
            </a:r>
            <a:endParaRPr lang="en-US" altLang="ko-KR" dirty="0"/>
          </a:p>
          <a:p>
            <a:pPr lvl="2"/>
            <a:r>
              <a:rPr lang="en-US" altLang="ko-KR" dirty="0"/>
              <a:t>-r (recursive)	# </a:t>
            </a:r>
            <a:r>
              <a:rPr lang="en-US" altLang="ko-KR" dirty="0" err="1"/>
              <a:t>dir</a:t>
            </a:r>
            <a:r>
              <a:rPr lang="en-US" altLang="ko-KR" dirty="0"/>
              <a:t> </a:t>
            </a:r>
            <a:r>
              <a:rPr lang="ko-KR" altLang="en-US" dirty="0"/>
              <a:t>까지 다 지움</a:t>
            </a:r>
            <a:endParaRPr lang="en-US" altLang="ko-KR" dirty="0"/>
          </a:p>
          <a:p>
            <a:pPr lvl="1"/>
            <a:r>
              <a:rPr lang="en-US" altLang="ko-KR" dirty="0"/>
              <a:t>history	# </a:t>
            </a:r>
            <a:r>
              <a:rPr lang="ko-KR" altLang="en-US" dirty="0"/>
              <a:t>지금까지 명령어 기록</a:t>
            </a:r>
            <a:endParaRPr lang="en-US" altLang="ko-KR" dirty="0"/>
          </a:p>
          <a:p>
            <a:pPr lvl="1"/>
            <a:r>
              <a:rPr lang="en-US" altLang="ko-KR" dirty="0"/>
              <a:t>Jobs	# </a:t>
            </a:r>
            <a:r>
              <a:rPr lang="ko-KR" altLang="en-US" dirty="0"/>
              <a:t>현재 실행중인 </a:t>
            </a:r>
            <a:r>
              <a:rPr lang="en-US" altLang="ko-KR" dirty="0"/>
              <a:t>job</a:t>
            </a:r>
          </a:p>
          <a:p>
            <a:pPr lvl="2"/>
            <a:r>
              <a:rPr lang="en-US" altLang="ko-KR" dirty="0"/>
              <a:t>Run job background</a:t>
            </a:r>
          </a:p>
          <a:p>
            <a:pPr lvl="2"/>
            <a:r>
              <a:rPr lang="en-US" altLang="ko-KR" dirty="0"/>
              <a:t> ctrl + C In case</a:t>
            </a:r>
          </a:p>
          <a:p>
            <a:pPr lvl="3"/>
            <a:r>
              <a:rPr lang="en-US" altLang="ko-KR" dirty="0"/>
              <a:t>Job running foreground</a:t>
            </a:r>
          </a:p>
          <a:p>
            <a:pPr lvl="3"/>
            <a:r>
              <a:rPr lang="en-US" altLang="ko-KR" dirty="0" err="1"/>
              <a:t>Cannnot</a:t>
            </a:r>
            <a:r>
              <a:rPr lang="en-US" altLang="ko-KR" dirty="0"/>
              <a:t> recover prompt</a:t>
            </a:r>
          </a:p>
          <a:p>
            <a:pPr lvl="3"/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1879AB-2D07-7E23-1FCD-4EE113765F76}"/>
              </a:ext>
            </a:extLst>
          </p:cNvPr>
          <p:cNvSpPr txBox="1"/>
          <p:nvPr/>
        </p:nvSpPr>
        <p:spPr>
          <a:xfrm>
            <a:off x="5508104" y="3113474"/>
            <a:ext cx="31786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Linux glob symbol</a:t>
            </a:r>
          </a:p>
          <a:p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많은 파일 이름에 </a:t>
            </a:r>
            <a:r>
              <a:rPr lang="en-US" altLang="ko-KR" dirty="0">
                <a:latin typeface="+mj-ea"/>
                <a:ea typeface="+mj-ea"/>
              </a:rPr>
              <a:t>matching)</a:t>
            </a:r>
          </a:p>
          <a:p>
            <a:r>
              <a:rPr lang="en-US" altLang="ko-KR" dirty="0">
                <a:latin typeface="+mj-lt"/>
              </a:rPr>
              <a:t>*	# </a:t>
            </a:r>
            <a:r>
              <a:rPr lang="ko-KR" altLang="en-US" dirty="0">
                <a:latin typeface="+mj-lt"/>
              </a:rPr>
              <a:t>모든 기호에 해당</a:t>
            </a:r>
            <a:endParaRPr lang="en-US" altLang="ko-KR" dirty="0">
              <a:latin typeface="+mj-lt"/>
            </a:endParaRPr>
          </a:p>
          <a:p>
            <a:r>
              <a:rPr lang="en-US" altLang="ko-KR" dirty="0">
                <a:latin typeface="+mj-lt"/>
              </a:rPr>
              <a:t>?   	# </a:t>
            </a:r>
            <a:r>
              <a:rPr lang="ko-KR" altLang="en-US" dirty="0">
                <a:latin typeface="+mj-lt"/>
              </a:rPr>
              <a:t>한 기호에 해당</a:t>
            </a:r>
            <a:endParaRPr lang="en-US" altLang="ko-KR" dirty="0">
              <a:latin typeface="+mj-lt"/>
            </a:endParaRPr>
          </a:p>
          <a:p>
            <a:r>
              <a:rPr lang="en-US" altLang="ko-KR" dirty="0">
                <a:latin typeface="+mj-lt"/>
              </a:rPr>
              <a:t>[  ] 	# </a:t>
            </a:r>
            <a:r>
              <a:rPr lang="ko-KR" altLang="en-US" dirty="0">
                <a:latin typeface="+mj-lt"/>
              </a:rPr>
              <a:t>중 하나에 해당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7E1E5B-E2BC-F896-A581-C94270D16F86}"/>
              </a:ext>
            </a:extLst>
          </p:cNvPr>
          <p:cNvSpPr txBox="1"/>
          <p:nvPr/>
        </p:nvSpPr>
        <p:spPr>
          <a:xfrm>
            <a:off x="5580112" y="1124744"/>
            <a:ext cx="28925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Linux special </a:t>
            </a:r>
            <a:r>
              <a:rPr lang="en-US" altLang="ko-KR" b="1" dirty="0" err="1"/>
              <a:t>dir</a:t>
            </a:r>
            <a:r>
              <a:rPr lang="en-US" altLang="ko-KR" b="1" dirty="0"/>
              <a:t> name</a:t>
            </a:r>
          </a:p>
          <a:p>
            <a:r>
              <a:rPr lang="en-US" altLang="ko-KR" sz="2400" dirty="0">
                <a:solidFill>
                  <a:srgbClr val="FF0000"/>
                </a:solidFill>
                <a:latin typeface="+mj-lt"/>
              </a:rPr>
              <a:t>.</a:t>
            </a:r>
            <a:r>
              <a:rPr lang="en-US" altLang="ko-KR" dirty="0">
                <a:latin typeface="+mj-lt"/>
              </a:rPr>
              <a:t>	# present directory</a:t>
            </a:r>
          </a:p>
          <a:p>
            <a:r>
              <a:rPr lang="en-US" altLang="ko-KR" sz="2400" dirty="0">
                <a:solidFill>
                  <a:srgbClr val="FF0000"/>
                </a:solidFill>
                <a:latin typeface="+mj-lt"/>
              </a:rPr>
              <a:t>..</a:t>
            </a:r>
            <a:r>
              <a:rPr lang="en-US" altLang="ko-KR" dirty="0">
                <a:latin typeface="+mj-lt"/>
              </a:rPr>
              <a:t>	# parent directory</a:t>
            </a:r>
          </a:p>
          <a:p>
            <a:r>
              <a:rPr lang="en-US" altLang="ko-KR" sz="2400" dirty="0">
                <a:solidFill>
                  <a:srgbClr val="FF0000"/>
                </a:solidFill>
                <a:latin typeface="+mj-lt"/>
              </a:rPr>
              <a:t>~</a:t>
            </a:r>
            <a:r>
              <a:rPr lang="en-US" altLang="ko-KR" dirty="0">
                <a:latin typeface="+mj-lt"/>
              </a:rPr>
              <a:t>	# HOME directory</a:t>
            </a:r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76425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28854A-C45F-6EC4-8873-B4802444D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수업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47D73A-CCF7-3457-54EE-0C8CCF53B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</a:t>
            </a:r>
          </a:p>
          <a:p>
            <a:pPr lvl="1"/>
            <a:r>
              <a:rPr lang="en-US" altLang="ko-KR" dirty="0"/>
              <a:t>$HOME/</a:t>
            </a:r>
          </a:p>
          <a:p>
            <a:pPr lvl="2"/>
            <a:r>
              <a:rPr lang="en-US" altLang="ko-KR" dirty="0"/>
              <a:t>git clone https://github.com/YHKlab/ESC2026.git</a:t>
            </a:r>
          </a:p>
          <a:p>
            <a:pPr lvl="2"/>
            <a:r>
              <a:rPr lang="en-US" altLang="ko-KR" dirty="0"/>
              <a:t>		# github.com/</a:t>
            </a:r>
            <a:r>
              <a:rPr lang="en-US" altLang="ko-KR" dirty="0" err="1"/>
              <a:t>yhklab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repo  </a:t>
            </a:r>
            <a:r>
              <a:rPr lang="en-US" altLang="ko-KR" dirty="0" err="1">
                <a:sym typeface="Wingdings" panose="05000000000000000000" pitchFamily="2" charset="2"/>
              </a:rPr>
              <a:t>ESCSchool</a:t>
            </a:r>
            <a:r>
              <a:rPr lang="en-US" altLang="ko-KR" dirty="0">
                <a:sym typeface="Wingdings" panose="05000000000000000000" pitchFamily="2" charset="2"/>
              </a:rPr>
              <a:t>  copy</a:t>
            </a:r>
            <a:endParaRPr lang="en-US" altLang="ko-KR" dirty="0"/>
          </a:p>
          <a:p>
            <a:pPr lvl="1"/>
            <a:r>
              <a:rPr lang="en-US" altLang="ko-KR" dirty="0"/>
              <a:t> $HOME/ESC2026</a:t>
            </a:r>
          </a:p>
          <a:p>
            <a:pPr lvl="2"/>
            <a:r>
              <a:rPr lang="en-US" altLang="ko-KR" dirty="0"/>
              <a:t>git pull			# </a:t>
            </a:r>
            <a:r>
              <a:rPr lang="ko-KR" altLang="en-US" dirty="0"/>
              <a:t>수시로 자료가 </a:t>
            </a:r>
            <a:r>
              <a:rPr lang="en-US" altLang="ko-KR" dirty="0"/>
              <a:t>update </a:t>
            </a:r>
            <a:r>
              <a:rPr lang="ko-KR" altLang="en-US" dirty="0"/>
              <a:t>되면 </a:t>
            </a:r>
            <a:r>
              <a:rPr lang="en-US" altLang="ko-KR" dirty="0"/>
              <a:t>download</a:t>
            </a:r>
          </a:p>
          <a:p>
            <a:r>
              <a:rPr lang="en-US" altLang="ko-KR" dirty="0"/>
              <a:t>Work directory</a:t>
            </a:r>
          </a:p>
          <a:p>
            <a:pPr lvl="1"/>
            <a:r>
              <a:rPr lang="en-US" altLang="ko-KR" dirty="0"/>
              <a:t> cp –r </a:t>
            </a:r>
            <a:r>
              <a:rPr lang="en-US" altLang="ko-KR" dirty="0" err="1"/>
              <a:t>ESCSchool</a:t>
            </a:r>
            <a:r>
              <a:rPr lang="en-US" altLang="ko-KR" dirty="0"/>
              <a:t>/exe1-atom exe1</a:t>
            </a:r>
          </a:p>
          <a:p>
            <a:pPr lvl="1"/>
            <a:r>
              <a:rPr lang="en-US" altLang="ko-KR" dirty="0"/>
              <a:t> cd exe1</a:t>
            </a:r>
          </a:p>
          <a:p>
            <a:pPr lvl="2"/>
            <a:r>
              <a:rPr lang="en-US" altLang="ko-KR" dirty="0"/>
              <a:t>Here is work directory for exe1</a:t>
            </a:r>
          </a:p>
        </p:txBody>
      </p:sp>
    </p:spTree>
    <p:extLst>
      <p:ext uri="{BB962C8B-B14F-4D97-AF65-F5344CB8AC3E}">
        <p14:creationId xmlns:p14="http://schemas.microsoft.com/office/powerpoint/2010/main" val="1020121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28854A-C45F-6EC4-8873-B4802444D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수업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47D73A-CCF7-3457-54EE-0C8CCF53B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92" y="1124744"/>
            <a:ext cx="8435280" cy="5544616"/>
          </a:xfrm>
        </p:spPr>
        <p:txBody>
          <a:bodyPr>
            <a:normAutofit/>
          </a:bodyPr>
          <a:lstStyle/>
          <a:p>
            <a:pPr>
              <a:buFont typeface="+mj-lt"/>
              <a:buAutoNum type="alphaLcPeriod" startAt="3"/>
            </a:pPr>
            <a:r>
              <a:rPr lang="en-US" altLang="ko-KR" dirty="0"/>
              <a:t>Python module </a:t>
            </a:r>
            <a:r>
              <a:rPr lang="ko-KR" altLang="en-US" dirty="0"/>
              <a:t>설치</a:t>
            </a:r>
            <a:endParaRPr lang="en-US" altLang="ko-KR" dirty="0"/>
          </a:p>
          <a:p>
            <a:pPr lvl="1"/>
            <a:r>
              <a:rPr lang="ko-KR" altLang="en-US" dirty="0"/>
              <a:t>현재 설치된 </a:t>
            </a:r>
            <a:r>
              <a:rPr lang="en-US" altLang="ko-KR" dirty="0"/>
              <a:t>pip</a:t>
            </a:r>
            <a:r>
              <a:rPr lang="ko-KR" altLang="en-US" dirty="0"/>
              <a:t>을 사용할 경우 홈에도 설치가 안 됨 </a:t>
            </a:r>
            <a:r>
              <a:rPr lang="en-US" altLang="ko-KR" dirty="0">
                <a:sym typeface="Wingdings" panose="05000000000000000000" pitchFamily="2" charset="2"/>
              </a:rPr>
              <a:t> error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which pip</a:t>
            </a:r>
          </a:p>
          <a:p>
            <a:pPr lvl="3"/>
            <a:r>
              <a:rPr lang="en-US" altLang="ko-KR" dirty="0"/>
              <a:t>/</a:t>
            </a:r>
            <a:r>
              <a:rPr lang="en-US" altLang="ko-KR" dirty="0">
                <a:solidFill>
                  <a:srgbClr val="FF0000"/>
                </a:solidFill>
              </a:rPr>
              <a:t>opt/miniconda3</a:t>
            </a:r>
            <a:r>
              <a:rPr lang="en-US" altLang="ko-KR" dirty="0"/>
              <a:t>/bin/pip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pip install </a:t>
            </a:r>
            <a:r>
              <a:rPr lang="en-US" altLang="ko-KR" dirty="0" err="1">
                <a:sym typeface="Wingdings" panose="05000000000000000000" pitchFamily="2" charset="2"/>
              </a:rPr>
              <a:t>wannerberri</a:t>
            </a:r>
            <a:r>
              <a:rPr lang="en-US" altLang="ko-KR" dirty="0">
                <a:sym typeface="Wingdings" panose="05000000000000000000" pitchFamily="2" charset="2"/>
              </a:rPr>
              <a:t>  can’t write $HOME/.local/lib (permission error)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Install pip in new env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conda</a:t>
            </a:r>
            <a:r>
              <a:rPr lang="en-US" altLang="ko-KR" dirty="0">
                <a:sym typeface="Wingdings" panose="05000000000000000000" pitchFamily="2" charset="2"/>
              </a:rPr>
              <a:t> create –n </a:t>
            </a:r>
            <a:r>
              <a:rPr lang="en-US" altLang="ko-KR" dirty="0" err="1">
                <a:sym typeface="Wingdings" panose="05000000000000000000" pitchFamily="2" charset="2"/>
              </a:rPr>
              <a:t>myenv</a:t>
            </a:r>
            <a:r>
              <a:rPr lang="en-US" altLang="ko-KR" dirty="0">
                <a:sym typeface="Wingdings" panose="05000000000000000000" pitchFamily="2" charset="2"/>
              </a:rPr>
              <a:t>		# python version, module, </a:t>
            </a:r>
            <a:r>
              <a:rPr lang="en-US" altLang="ko-KR" dirty="0" err="1">
                <a:sym typeface="Wingdings" panose="05000000000000000000" pitchFamily="2" charset="2"/>
              </a:rPr>
              <a:t>etc</a:t>
            </a:r>
            <a:endParaRPr lang="en-US" altLang="ko-KR" dirty="0">
              <a:sym typeface="Wingdings" panose="05000000000000000000" pitchFamily="2" charset="2"/>
            </a:endParaRPr>
          </a:p>
          <a:p>
            <a:pPr lvl="3"/>
            <a:r>
              <a:rPr lang="en-US" altLang="ko-KR" dirty="0">
                <a:sym typeface="Wingdings" panose="05000000000000000000" pitchFamily="2" charset="2"/>
              </a:rPr>
              <a:t>$HOME/.</a:t>
            </a:r>
            <a:r>
              <a:rPr lang="en-US" altLang="ko-KR" dirty="0" err="1">
                <a:sym typeface="Wingdings" panose="05000000000000000000" pitchFamily="2" charset="2"/>
              </a:rPr>
              <a:t>conda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en-US" altLang="ko-KR" dirty="0" err="1">
                <a:sym typeface="Wingdings" panose="05000000000000000000" pitchFamily="2" charset="2"/>
              </a:rPr>
              <a:t>envs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en-US" altLang="ko-KR" dirty="0" err="1">
                <a:sym typeface="Wingdings" panose="05000000000000000000" pitchFamily="2" charset="2"/>
              </a:rPr>
              <a:t>myenv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conda</a:t>
            </a:r>
            <a:r>
              <a:rPr lang="en-US" altLang="ko-KR" dirty="0">
                <a:sym typeface="Wingdings" panose="05000000000000000000" pitchFamily="2" charset="2"/>
              </a:rPr>
              <a:t> activate </a:t>
            </a:r>
            <a:r>
              <a:rPr lang="en-US" altLang="ko-KR" dirty="0" err="1">
                <a:sym typeface="Wingdings" panose="05000000000000000000" pitchFamily="2" charset="2"/>
              </a:rPr>
              <a:t>myenv</a:t>
            </a:r>
            <a:r>
              <a:rPr lang="en-US" altLang="ko-KR" dirty="0">
                <a:sym typeface="Wingdings" panose="05000000000000000000" pitchFamily="2" charset="2"/>
              </a:rPr>
              <a:t>		# still path to </a:t>
            </a:r>
            <a:r>
              <a:rPr lang="en-US" altLang="ko-KR" dirty="0"/>
              <a:t>/</a:t>
            </a:r>
            <a:r>
              <a:rPr lang="en-US" altLang="ko-KR" dirty="0">
                <a:solidFill>
                  <a:srgbClr val="FF0000"/>
                </a:solidFill>
              </a:rPr>
              <a:t>opt/miniconda3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sym typeface="Wingdings" panose="05000000000000000000" pitchFamily="2" charset="2"/>
              </a:rPr>
              <a:t>myenv</a:t>
            </a:r>
            <a:r>
              <a:rPr lang="en-US" altLang="ko-KR" dirty="0">
                <a:sym typeface="Wingdings" panose="05000000000000000000" pitchFamily="2" charset="2"/>
              </a:rPr>
              <a:t>) </a:t>
            </a:r>
            <a:r>
              <a:rPr lang="en-US" altLang="ko-KR" dirty="0" err="1">
                <a:sym typeface="Wingdings" panose="05000000000000000000" pitchFamily="2" charset="2"/>
              </a:rPr>
              <a:t>conda</a:t>
            </a:r>
            <a:r>
              <a:rPr lang="en-US" altLang="ko-KR" dirty="0">
                <a:sym typeface="Wingdings" panose="05000000000000000000" pitchFamily="2" charset="2"/>
              </a:rPr>
              <a:t> install pip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sym typeface="Wingdings" panose="05000000000000000000" pitchFamily="2" charset="2"/>
              </a:rPr>
              <a:t>myenv</a:t>
            </a:r>
            <a:r>
              <a:rPr lang="en-US" altLang="ko-KR" dirty="0">
                <a:sym typeface="Wingdings" panose="05000000000000000000" pitchFamily="2" charset="2"/>
              </a:rPr>
              <a:t>) which pip</a:t>
            </a:r>
          </a:p>
          <a:p>
            <a:pPr lvl="3"/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$HOME/.</a:t>
            </a:r>
            <a:r>
              <a:rPr lang="en-US" altLang="ko-KR" dirty="0" err="1">
                <a:solidFill>
                  <a:srgbClr val="FF0000"/>
                </a:solidFill>
                <a:sym typeface="Wingdings" panose="05000000000000000000" pitchFamily="2" charset="2"/>
              </a:rPr>
              <a:t>conda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/</a:t>
            </a:r>
            <a:r>
              <a:rPr lang="en-US" altLang="ko-KR" dirty="0" err="1">
                <a:solidFill>
                  <a:srgbClr val="FF0000"/>
                </a:solidFill>
                <a:sym typeface="Wingdings" panose="05000000000000000000" pitchFamily="2" charset="2"/>
              </a:rPr>
              <a:t>envs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/</a:t>
            </a:r>
            <a:r>
              <a:rPr lang="en-US" altLang="ko-KR" dirty="0" err="1">
                <a:solidFill>
                  <a:srgbClr val="FF0000"/>
                </a:solidFill>
                <a:sym typeface="Wingdings" panose="05000000000000000000" pitchFamily="2" charset="2"/>
              </a:rPr>
              <a:t>myenv</a:t>
            </a:r>
            <a:r>
              <a:rPr lang="en-US" altLang="ko-KR" dirty="0">
                <a:sym typeface="Wingdings" panose="05000000000000000000" pitchFamily="2" charset="2"/>
              </a:rPr>
              <a:t>/bin/pip</a:t>
            </a:r>
          </a:p>
          <a:p>
            <a:pPr lvl="3"/>
            <a:r>
              <a:rPr lang="en-US" altLang="ko-KR" dirty="0">
                <a:sym typeface="Wingdings" panose="05000000000000000000" pitchFamily="2" charset="2"/>
              </a:rPr>
              <a:t>$HOME/.</a:t>
            </a:r>
            <a:r>
              <a:rPr lang="en-US" altLang="ko-KR" dirty="0" err="1">
                <a:sym typeface="Wingdings" panose="05000000000000000000" pitchFamily="2" charset="2"/>
              </a:rPr>
              <a:t>conda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en-US" altLang="ko-KR" dirty="0" err="1">
                <a:sym typeface="Wingdings" panose="05000000000000000000" pitchFamily="2" charset="2"/>
              </a:rPr>
              <a:t>envs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en-US" altLang="ko-KR" dirty="0" err="1">
                <a:sym typeface="Wingdings" panose="05000000000000000000" pitchFamily="2" charset="2"/>
              </a:rPr>
              <a:t>myenv</a:t>
            </a:r>
            <a:r>
              <a:rPr lang="en-US" altLang="ko-KR" dirty="0">
                <a:sym typeface="Wingdings" panose="05000000000000000000" pitchFamily="2" charset="2"/>
              </a:rPr>
              <a:t>/bin/python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python –version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Use </a:t>
            </a:r>
            <a:r>
              <a:rPr lang="en-US" altLang="ko-KR" dirty="0" err="1">
                <a:sym typeface="Wingdings" panose="05000000000000000000" pitchFamily="2" charset="2"/>
              </a:rPr>
              <a:t>myenv</a:t>
            </a:r>
            <a:r>
              <a:rPr lang="en-US" altLang="ko-KR" dirty="0">
                <a:sym typeface="Wingdings" panose="05000000000000000000" pitchFamily="2" charset="2"/>
              </a:rPr>
              <a:t> to install modules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pip install </a:t>
            </a:r>
            <a:r>
              <a:rPr lang="en-US" altLang="ko-KR" dirty="0" err="1">
                <a:sym typeface="Wingdings" panose="05000000000000000000" pitchFamily="2" charset="2"/>
              </a:rPr>
              <a:t>wannierberri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python –c “import </a:t>
            </a:r>
            <a:r>
              <a:rPr lang="en-US" altLang="ko-KR" dirty="0" err="1">
                <a:sym typeface="Wingdings" panose="05000000000000000000" pitchFamily="2" charset="2"/>
              </a:rPr>
              <a:t>wannierberri</a:t>
            </a:r>
            <a:r>
              <a:rPr lang="en-US" altLang="ko-KR" dirty="0">
                <a:sym typeface="Wingdings" panose="05000000000000000000" pitchFamily="2" charset="2"/>
              </a:rPr>
              <a:t>”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pip install </a:t>
            </a:r>
            <a:r>
              <a:rPr lang="en-US" altLang="ko-KR" dirty="0" err="1">
                <a:sym typeface="Wingdings" panose="05000000000000000000" pitchFamily="2" charset="2"/>
              </a:rPr>
              <a:t>pyfftw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508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28854A-C45F-6EC4-8873-B4802444D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수업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47D73A-CCF7-3457-54EE-0C8CCF53B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92" y="1124744"/>
            <a:ext cx="8435280" cy="5544616"/>
          </a:xfrm>
        </p:spPr>
        <p:txBody>
          <a:bodyPr>
            <a:normAutofit/>
          </a:bodyPr>
          <a:lstStyle/>
          <a:p>
            <a:pPr>
              <a:buFont typeface="+mj-lt"/>
              <a:buAutoNum type="alphaLcPeriod" startAt="4"/>
            </a:pPr>
            <a:r>
              <a:rPr lang="en-US" altLang="ko-KR" dirty="0"/>
              <a:t>atom</a:t>
            </a:r>
          </a:p>
          <a:p>
            <a:pPr lvl="1">
              <a:buFont typeface="+mj-lt"/>
              <a:buAutoNum type="alphaLcPeriod" startAt="4"/>
            </a:pP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39746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4">
      <a:majorFont>
        <a:latin typeface="callibri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첨단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19283</TotalTime>
  <Words>1051</Words>
  <Application>Microsoft Office PowerPoint</Application>
  <PresentationFormat>화면 슬라이드 쇼(4:3)</PresentationFormat>
  <Paragraphs>222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Droid Sans Mono</vt:lpstr>
      <vt:lpstr>Arial</vt:lpstr>
      <vt:lpstr>Calibri</vt:lpstr>
      <vt:lpstr>Constantia</vt:lpstr>
      <vt:lpstr>Times New Roman</vt:lpstr>
      <vt:lpstr>Wingdings</vt:lpstr>
      <vt:lpstr>Wingdings 2</vt:lpstr>
      <vt:lpstr>1_Office 테마</vt:lpstr>
      <vt:lpstr>디자인 사용자 지정</vt:lpstr>
      <vt:lpstr>PowerPoint 프레젠테이션</vt:lpstr>
      <vt:lpstr>목차</vt:lpstr>
      <vt:lpstr>1. Edison homepage</vt:lpstr>
      <vt:lpstr>1. Edison homepage</vt:lpstr>
      <vt:lpstr>1. Edison homepage</vt:lpstr>
      <vt:lpstr>1. Edison homepage</vt:lpstr>
      <vt:lpstr>2. VS Code</vt:lpstr>
      <vt:lpstr>2. VS Code</vt:lpstr>
      <vt:lpstr>3. Linux</vt:lpstr>
      <vt:lpstr>3. Linux</vt:lpstr>
      <vt:lpstr>3. Linux</vt:lpstr>
      <vt:lpstr>4. 수업</vt:lpstr>
      <vt:lpstr>4. 수업</vt:lpstr>
      <vt:lpstr>4. 수업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Yong-Hoon Kim</dc:creator>
  <cp:lastModifiedBy>준호 박</cp:lastModifiedBy>
  <cp:revision>811</cp:revision>
  <cp:lastPrinted>2017-03-03T03:20:58Z</cp:lastPrinted>
  <dcterms:created xsi:type="dcterms:W3CDTF">2012-07-04T02:23:50Z</dcterms:created>
  <dcterms:modified xsi:type="dcterms:W3CDTF">2026-07-12T11:49:53Z</dcterms:modified>
</cp:coreProperties>
</file>