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1079" r:id="rId2"/>
    <p:sldId id="1095" r:id="rId3"/>
    <p:sldId id="985" r:id="rId4"/>
    <p:sldId id="986" r:id="rId5"/>
    <p:sldId id="987" r:id="rId6"/>
    <p:sldId id="1044" r:id="rId7"/>
    <p:sldId id="1096" r:id="rId8"/>
    <p:sldId id="1097" r:id="rId9"/>
    <p:sldId id="1098" r:id="rId10"/>
    <p:sldId id="1100" r:id="rId11"/>
    <p:sldId id="1099" r:id="rId12"/>
    <p:sldId id="1102" r:id="rId13"/>
    <p:sldId id="1047" r:id="rId14"/>
    <p:sldId id="1103" r:id="rId15"/>
    <p:sldId id="1106" r:id="rId16"/>
    <p:sldId id="1104" r:id="rId17"/>
    <p:sldId id="1105" r:id="rId18"/>
    <p:sldId id="1108" r:id="rId19"/>
  </p:sldIdLst>
  <p:sldSz cx="12192000" cy="6858000"/>
  <p:notesSz cx="6735763" cy="9866313"/>
  <p:embeddedFontLst>
    <p:embeddedFont>
      <p:font typeface="돋움" panose="020B0600000101010101" pitchFamily="34" charset="-127"/>
      <p:regular r:id="rId22"/>
    </p:embeddedFont>
    <p:embeddedFont>
      <p:font typeface="맑은 고딕" panose="020B0503020000020004" pitchFamily="34" charset="-127"/>
      <p:regular r:id="rId23"/>
      <p:bold r:id="rId24"/>
    </p:embeddedFont>
    <p:embeddedFont>
      <p:font typeface="나눔고딕" panose="020D0604000000000000" pitchFamily="34" charset="-127"/>
      <p:regular r:id="rId25"/>
      <p:bold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6302937-33FF-44AF-A70D-440ACE12D760}">
          <p14:sldIdLst>
            <p14:sldId id="1079"/>
            <p14:sldId id="1095"/>
            <p14:sldId id="985"/>
            <p14:sldId id="986"/>
            <p14:sldId id="987"/>
            <p14:sldId id="1044"/>
            <p14:sldId id="1096"/>
            <p14:sldId id="1097"/>
            <p14:sldId id="1098"/>
            <p14:sldId id="1100"/>
            <p14:sldId id="1099"/>
            <p14:sldId id="1102"/>
            <p14:sldId id="1047"/>
            <p14:sldId id="1103"/>
            <p14:sldId id="1106"/>
            <p14:sldId id="1104"/>
            <p14:sldId id="1105"/>
            <p14:sldId id="1108"/>
          </p14:sldIdLst>
        </p14:section>
        <p14:section name="제목 없는 구역" id="{4587E1F3-927A-44E7-9AB7-F8D09EC5448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orient="horz" pos="482" userDrawn="1">
          <p15:clr>
            <a:srgbClr val="A4A3A4"/>
          </p15:clr>
        </p15:guide>
        <p15:guide id="3" pos="45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wner" initials="o" lastIdx="9" clrIdx="0">
    <p:extLst>
      <p:ext uri="{19B8F6BF-5375-455C-9EA6-DF929625EA0E}">
        <p15:presenceInfo xmlns:p15="http://schemas.microsoft.com/office/powerpoint/2012/main" userId="a5106883b345f5c4" providerId="Windows Live"/>
      </p:ext>
    </p:extLst>
  </p:cmAuthor>
  <p:cmAuthor id="2" name="양우일(물리학과)" initials="양" lastIdx="1" clrIdx="1">
    <p:extLst>
      <p:ext uri="{19B8F6BF-5375-455C-9EA6-DF929625EA0E}">
        <p15:presenceInfo xmlns:p15="http://schemas.microsoft.com/office/powerpoint/2012/main" userId="S-1-12-1-3806887918-1253745664-336748217-26641008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7EBB"/>
    <a:srgbClr val="C0F1EF"/>
    <a:srgbClr val="000000"/>
    <a:srgbClr val="1F00F6"/>
    <a:srgbClr val="7F7F7F"/>
    <a:srgbClr val="2929FF"/>
    <a:srgbClr val="177117"/>
    <a:srgbClr val="777777"/>
    <a:srgbClr val="E60012"/>
    <a:srgbClr val="1D2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A1352-89AE-934C-AB80-EBE5850EFE14}" v="3" dt="2025-07-09T04:17:10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32"/>
    <p:restoredTop sz="85479"/>
  </p:normalViewPr>
  <p:slideViewPr>
    <p:cSldViewPr snapToGrid="0">
      <p:cViewPr varScale="1">
        <p:scale>
          <a:sx n="108" d="100"/>
          <a:sy n="108" d="100"/>
        </p:scale>
        <p:origin x="1368" y="184"/>
      </p:cViewPr>
      <p:guideLst>
        <p:guide orient="horz" pos="2840"/>
        <p:guide orient="horz" pos="482"/>
        <p:guide pos="45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4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D5034-1947-4699-A642-444941262E5D}" type="datetimeFigureOut">
              <a:rPr lang="ko-KR" altLang="en-US" smtClean="0"/>
              <a:t>2026. 7. 6.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479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870C5-E39E-4D4A-8B97-122E944BE205}" type="datetimeFigureOut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7788" y="739775"/>
            <a:ext cx="658018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500"/>
            <a:ext cx="5388610" cy="4439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5"/>
            <a:ext cx="2918831" cy="4933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4" y="9371285"/>
            <a:ext cx="2918831" cy="4933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562BB-DACB-4090-9EB0-C718CC4DF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48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8" y="739775"/>
            <a:ext cx="6580187" cy="37020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033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B18F-9400-9F53-D1C4-C4F448F4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B51AA8-1604-8A2A-A4EA-EF24582F4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3E9E37-770A-B507-D74E-ED3FC6473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DFT has proven its effectiveness in diverse area. However, since the exact from of exchange-correlation functional is unknown, approximate functionals like LDA or GGA can introduce self-interaction error.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5E9615-C926-63DD-75A8-60633B6249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209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In terms of quantitiative errors, it is linked to delocalization issues, bandgap underestimation, and inaccuracies in Fermi velocity.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113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In terms of qualitative errors, it can lead to misclassifying topological phases, inaccurately predicting dynamical unstability, and distorting band gap shape.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97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Already, there are many methods to overcome this issue. Like self-energy correction through GW approximation, Dynamical mean-field theory+DFT, Hybrid functional or Local self-interaction error correction through DFT+U and many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678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DCECF-DDB1-F45C-771C-792AA03C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A78B6-EC7C-1C61-F723-7EBDC4329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BE219-6067-0F67-811A-07D6EBDBE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Already, there are many methods to overcome this issue. Like self-energy correction through GW approximation, Dynamical mean-field theory+DFT, Hybrid functional or Local self-interaction error correction through DFT+U and many others.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E398B-AB67-104F-6BF7-5A3807B33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626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DFT+U corrections are originally motivated by Hubbard Hamiltonian and the correction magntidue depends on the Hubbard paramter, U.</a:t>
            </a:r>
          </a:p>
          <a:p>
            <a:r>
              <a:rPr lang="en-KR" dirty="0"/>
              <a:t>However, choosing a proper U value for each calculation poses a challenge.</a:t>
            </a:r>
          </a:p>
          <a:p>
            <a:r>
              <a:rPr lang="en-KR" dirty="0"/>
              <a:t>Historically, empirical value were used to match experimental data, but more recently, several self-consistent schemes have been proposed such as linear response theory, c-RPA, and direct Hartree-Fock-based methods and so on.</a:t>
            </a:r>
          </a:p>
          <a:p>
            <a:r>
              <a:rPr lang="en-KR" dirty="0"/>
              <a:t>In this talk, we focus on a self-consistently determined Hubbard correction </a:t>
            </a:r>
            <a:r>
              <a:rPr lang="en-US" altLang="ko-KR" dirty="0"/>
              <a:t>u</a:t>
            </a:r>
            <a:r>
              <a:rPr lang="en-KR" altLang="ko-KR" dirty="0"/>
              <a:t>sing Hartree-Fock-based formalism </a:t>
            </a:r>
            <a:r>
              <a:rPr lang="en-KR" dirty="0"/>
              <a:t>that includs inter-site interactions and achieves hybrid functional or near GW-level accuracy at a significantly lower computational cost. 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91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796844" y="908720"/>
            <a:ext cx="6163253" cy="2304256"/>
          </a:xfrm>
        </p:spPr>
        <p:txBody>
          <a:bodyPr>
            <a:normAutofit/>
          </a:bodyPr>
          <a:lstStyle>
            <a:lvl1pPr algn="l">
              <a:defRPr sz="4000" b="0" i="0" spc="-150" baseline="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err="1"/>
              <a:t>마스</a:t>
            </a:r>
            <a:r>
              <a:rPr lang="en-US" altLang="ko-KR" err="1"/>
              <a:t>dd</a:t>
            </a:r>
            <a:r>
              <a:rPr lang="ko-KR" altLang="en-US"/>
              <a:t>터 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575388" y="908723"/>
            <a:ext cx="11089229" cy="684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0079765" y="0"/>
            <a:ext cx="21122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-3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‹#›</a:t>
            </a:fld>
            <a:endParaRPr lang="en-US" altLang="ko-KR" sz="800" spc="-30">
              <a:solidFill>
                <a:schemeClr val="tx1">
                  <a:lumMod val="50000"/>
                  <a:lumOff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ctrTitle" hasCustomPrompt="1"/>
          </p:nvPr>
        </p:nvSpPr>
        <p:spPr>
          <a:xfrm>
            <a:off x="527383" y="94013"/>
            <a:ext cx="10363200" cy="893961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1"/>
                </a:solidFill>
                <a:latin typeface="+mj-lt"/>
                <a:ea typeface="돋움" panose="020B0600000101010101" pitchFamily="50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New page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0074900" y="1239"/>
            <a:ext cx="21122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-3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‹#›</a:t>
            </a:fld>
            <a:endParaRPr lang="en-US" altLang="ko-KR" sz="800" spc="-30">
              <a:solidFill>
                <a:schemeClr val="tx1">
                  <a:lumMod val="50000"/>
                  <a:lumOff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내용 개체 틀 3"/>
          <p:cNvSpPr>
            <a:spLocks noGrp="1"/>
          </p:cNvSpPr>
          <p:nvPr>
            <p:ph sz="half" idx="2"/>
          </p:nvPr>
        </p:nvSpPr>
        <p:spPr>
          <a:xfrm>
            <a:off x="3301372" y="1493936"/>
            <a:ext cx="5386917" cy="3951288"/>
          </a:xfrm>
        </p:spPr>
        <p:txBody>
          <a:bodyPr>
            <a:normAutofit/>
          </a:bodyPr>
          <a:lstStyle>
            <a:lvl1pPr>
              <a:buNone/>
              <a:defRPr sz="1300" b="1" spc="-7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>
              <a:buNone/>
              <a:defRPr sz="1300" b="1" spc="-7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>
              <a:buFont typeface="Wingdings" pitchFamily="2" charset="2"/>
              <a:buChar char="§"/>
              <a:defRPr sz="1300" b="1" spc="-7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>
              <a:defRPr sz="1300" b="1" spc="-7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>
              <a:buNone/>
              <a:defRPr sz="1300" b="1" spc="-7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575388" y="908723"/>
            <a:ext cx="10315195" cy="545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ctrTitle" hasCustomPrompt="1"/>
          </p:nvPr>
        </p:nvSpPr>
        <p:spPr>
          <a:xfrm>
            <a:off x="527381" y="188643"/>
            <a:ext cx="10363200" cy="893961"/>
          </a:xfrm>
        </p:spPr>
        <p:txBody>
          <a:bodyPr>
            <a:normAutofit/>
          </a:bodyPr>
          <a:lstStyle>
            <a:lvl1pPr algn="l">
              <a:defRPr sz="2400">
                <a:solidFill>
                  <a:schemeClr val="tx1"/>
                </a:solidFill>
                <a:latin typeface="+mj-lt"/>
                <a:ea typeface="돋움" panose="020B0600000101010101" pitchFamily="50" charset="-127"/>
              </a:defRPr>
            </a:lvl1pPr>
          </a:lstStyle>
          <a:p>
            <a:r>
              <a:rPr lang="en-US" altLang="ko-KR"/>
              <a:t>New page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34269" y="2130428"/>
            <a:ext cx="11255707" cy="1219209"/>
          </a:xfrm>
        </p:spPr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0074900" y="1239"/>
            <a:ext cx="21122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-3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‹#›</a:t>
            </a:fld>
            <a:endParaRPr lang="en-US" altLang="ko-KR" sz="800" spc="-30">
              <a:solidFill>
                <a:schemeClr val="tx1">
                  <a:lumMod val="50000"/>
                  <a:lumOff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483796" y="3068960"/>
            <a:ext cx="11156653" cy="597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75F0-4FDF-431C-B6B2-41F992E67A7C}" type="datetimeFigureOut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New page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C75F0-4FDF-431C-B6B2-41F992E67A7C}" type="datetimeFigureOut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D8A1D-F5E3-4971-B0EE-D6B8EE5A56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5" r:id="rId3"/>
    <p:sldLayoutId id="2147483662" r:id="rId4"/>
    <p:sldLayoutId id="2147483663" r:id="rId5"/>
    <p:sldLayoutId id="2147483649" r:id="rId6"/>
    <p:sldLayoutId id="2147483650" r:id="rId7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828362" y="1724817"/>
            <a:ext cx="9658225" cy="901410"/>
          </a:xfrm>
        </p:spPr>
        <p:txBody>
          <a:bodyPr>
            <a:normAutofit/>
          </a:bodyPr>
          <a:lstStyle/>
          <a:p>
            <a:r>
              <a:rPr lang="en-US" altLang="ko-KR" sz="4800" baseline="-25000" dirty="0"/>
              <a:t>Exchange-correlation functionals and corrections in QE </a:t>
            </a:r>
            <a:endParaRPr lang="ko-KR" altLang="en-US" sz="4800" baseline="-25000" dirty="0"/>
          </a:p>
        </p:txBody>
      </p:sp>
      <p:sp>
        <p:nvSpPr>
          <p:cNvPr id="11" name="직사각형 10"/>
          <p:cNvSpPr/>
          <p:nvPr/>
        </p:nvSpPr>
        <p:spPr>
          <a:xfrm>
            <a:off x="893135" y="2708920"/>
            <a:ext cx="9528680" cy="1163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부제목 2">
            <a:extLst>
              <a:ext uri="{FF2B5EF4-FFF2-40B4-BE49-F238E27FC236}">
                <a16:creationId xmlns:a16="http://schemas.microsoft.com/office/drawing/2014/main" id="{F2B48EFE-E346-A407-B108-397CCB8F735E}"/>
              </a:ext>
            </a:extLst>
          </p:cNvPr>
          <p:cNvSpPr txBox="1">
            <a:spLocks/>
          </p:cNvSpPr>
          <p:nvPr/>
        </p:nvSpPr>
        <p:spPr>
          <a:xfrm>
            <a:off x="893135" y="1353053"/>
            <a:ext cx="8623010" cy="54247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spc="-30" dirty="0">
                <a:latin typeface="Arial" panose="020B0604020202020204" pitchFamily="34" charset="0"/>
                <a:ea typeface="돋움" panose="020B0600000101010101" pitchFamily="50" charset="-127"/>
                <a:cs typeface="Arial" panose="020B0604020202020204" pitchFamily="34" charset="0"/>
              </a:rPr>
              <a:t>Intro to Tutorial</a:t>
            </a:r>
            <a:endParaRPr lang="en-US" altLang="ko-KR" sz="2000" spc="-30" baseline="30000" dirty="0">
              <a:latin typeface="Arial" panose="020B0604020202020204" pitchFamily="34" charset="0"/>
              <a:ea typeface="돋움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EC7F2-DD11-4870-7EE5-540E35D157AD}"/>
              </a:ext>
            </a:extLst>
          </p:cNvPr>
          <p:cNvSpPr txBox="1"/>
          <p:nvPr/>
        </p:nvSpPr>
        <p:spPr>
          <a:xfrm>
            <a:off x="139536" y="178851"/>
            <a:ext cx="609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/>
              <a:t>제 7회 전자구조계산 여름학교</a:t>
            </a:r>
          </a:p>
        </p:txBody>
      </p:sp>
    </p:spTree>
    <p:extLst>
      <p:ext uri="{BB962C8B-B14F-4D97-AF65-F5344CB8AC3E}">
        <p14:creationId xmlns:p14="http://schemas.microsoft.com/office/powerpoint/2010/main" val="406755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61F8-BEFC-7B6F-D944-84B03F984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B44114-3F09-C9F5-C157-91368B178A14}"/>
              </a:ext>
            </a:extLst>
          </p:cNvPr>
          <p:cNvSpPr txBox="1"/>
          <p:nvPr/>
        </p:nvSpPr>
        <p:spPr>
          <a:xfrm>
            <a:off x="2790922" y="2436704"/>
            <a:ext cx="1093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</a:t>
            </a:r>
            <a:r>
              <a:rPr lang="en-KR" sz="2400" dirty="0"/>
              <a:t>ilicon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FEF57-D9D5-295C-3AE3-581E98A712BF}"/>
              </a:ext>
            </a:extLst>
          </p:cNvPr>
          <p:cNvSpPr txBox="1"/>
          <p:nvPr/>
        </p:nvSpPr>
        <p:spPr>
          <a:xfrm>
            <a:off x="966271" y="1270618"/>
            <a:ext cx="8688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2400" dirty="0"/>
              <a:t>Explore different XC functionals (LDA/GGA)</a:t>
            </a:r>
          </a:p>
          <a:p>
            <a:r>
              <a:rPr lang="en-US" sz="2400" dirty="0"/>
              <a:t>    and advanced corrections (DFT+</a:t>
            </a:r>
            <a:r>
              <a:rPr lang="en-US" sz="2400" i="1" dirty="0"/>
              <a:t>U</a:t>
            </a:r>
            <a:r>
              <a:rPr lang="en-US" sz="2400" dirty="0"/>
              <a:t> and Hybrid functionals).</a:t>
            </a:r>
            <a:endParaRPr lang="en-KR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3838DA-3D58-BF53-F8A5-0B43395F2480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en-KR" dirty="0"/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4426028E-6C0C-661C-7985-2C24AA1CF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44" y="2898368"/>
            <a:ext cx="5914256" cy="3326769"/>
          </a:xfrm>
          <a:prstGeom prst="rect">
            <a:avLst/>
          </a:prstGeom>
        </p:spPr>
      </p:pic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A83E4BC5-3604-35ED-CA24-9E587088A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98368"/>
            <a:ext cx="5914256" cy="3326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692EFC-A8FE-DAD4-6B1B-68850676E268}"/>
              </a:ext>
            </a:extLst>
          </p:cNvPr>
          <p:cNvSpPr txBox="1"/>
          <p:nvPr/>
        </p:nvSpPr>
        <p:spPr>
          <a:xfrm>
            <a:off x="8594626" y="2436703"/>
            <a:ext cx="810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400" dirty="0"/>
              <a:t>NiO</a:t>
            </a:r>
          </a:p>
        </p:txBody>
      </p:sp>
    </p:spTree>
    <p:extLst>
      <p:ext uri="{BB962C8B-B14F-4D97-AF65-F5344CB8AC3E}">
        <p14:creationId xmlns:p14="http://schemas.microsoft.com/office/powerpoint/2010/main" val="47044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CE79-727D-1971-9576-4257591A6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F9DA10-968D-92B3-5096-2501A27FEB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588"/>
          <a:stretch/>
        </p:blipFill>
        <p:spPr>
          <a:xfrm>
            <a:off x="604584" y="3872186"/>
            <a:ext cx="9721380" cy="847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709DC1-5451-D3D4-6E8D-569B573B6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775" b="71092"/>
          <a:stretch/>
        </p:blipFill>
        <p:spPr>
          <a:xfrm>
            <a:off x="606917" y="1977750"/>
            <a:ext cx="5974485" cy="37600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88348BE-1EFD-D29F-58BF-28FC1C400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383" y="94013"/>
            <a:ext cx="11234658" cy="893961"/>
          </a:xfrm>
        </p:spPr>
        <p:txBody>
          <a:bodyPr>
            <a:normAutofit/>
          </a:bodyPr>
          <a:lstStyle/>
          <a:p>
            <a:r>
              <a:rPr lang="en-US" altLang="ko-KR" dirty="0"/>
              <a:t>Recap: Inaccuracy of Density functional theory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5D240-7D5B-A880-AC95-C20A5ED3E747}"/>
              </a:ext>
            </a:extLst>
          </p:cNvPr>
          <p:cNvSpPr txBox="1"/>
          <p:nvPr/>
        </p:nvSpPr>
        <p:spPr>
          <a:xfrm>
            <a:off x="509468" y="3229267"/>
            <a:ext cx="5561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A single particle Kohn-Sham equations:</a:t>
            </a:r>
            <a:endParaRPr lang="ko-KR" alt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FB571-9006-6E11-F329-73AEA17096EA}"/>
              </a:ext>
            </a:extLst>
          </p:cNvPr>
          <p:cNvSpPr txBox="1"/>
          <p:nvPr/>
        </p:nvSpPr>
        <p:spPr>
          <a:xfrm>
            <a:off x="509404" y="1242273"/>
            <a:ext cx="1947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Total energy:</a:t>
            </a:r>
            <a:endParaRPr lang="en-KR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ECC74A-2ABF-C4F7-50AD-4FD55B2BB638}"/>
              </a:ext>
            </a:extLst>
          </p:cNvPr>
          <p:cNvCxnSpPr/>
          <p:nvPr/>
        </p:nvCxnSpPr>
        <p:spPr>
          <a:xfrm>
            <a:off x="5875119" y="2422412"/>
            <a:ext cx="64957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720566-10A2-EE6B-7018-6B30D9186248}"/>
              </a:ext>
            </a:extLst>
          </p:cNvPr>
          <p:cNvCxnSpPr>
            <a:cxnSpLocks/>
          </p:cNvCxnSpPr>
          <p:nvPr/>
        </p:nvCxnSpPr>
        <p:spPr>
          <a:xfrm>
            <a:off x="6524753" y="4584446"/>
            <a:ext cx="775692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2F2A90-35B8-9C02-9FDD-45AC27BAEEF1}"/>
              </a:ext>
            </a:extLst>
          </p:cNvPr>
          <p:cNvSpPr txBox="1"/>
          <p:nvPr/>
        </p:nvSpPr>
        <p:spPr>
          <a:xfrm>
            <a:off x="509404" y="5215617"/>
            <a:ext cx="11015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Approximate functionals for XC such as LDA or GGA are </a:t>
            </a:r>
            <a:r>
              <a:rPr lang="en-US" altLang="ko-KR" sz="2000" b="1" dirty="0"/>
              <a:t>fast</a:t>
            </a:r>
            <a:r>
              <a:rPr lang="en-US" altLang="ko-KR" sz="2000" dirty="0"/>
              <a:t> but makes </a:t>
            </a:r>
            <a:r>
              <a:rPr lang="en-US" altLang="ko-KR" sz="2000" b="1" dirty="0"/>
              <a:t>self-interaction error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4DB19-6BA2-7594-4899-D82DC1E367E4}"/>
              </a:ext>
            </a:extLst>
          </p:cNvPr>
          <p:cNvSpPr txBox="1"/>
          <p:nvPr/>
        </p:nvSpPr>
        <p:spPr>
          <a:xfrm>
            <a:off x="5419480" y="2598695"/>
            <a:ext cx="2832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Exact form is unknown.</a:t>
            </a:r>
            <a:endParaRPr lang="ko-KR" alt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11F52-4564-56EC-23F4-B25D58DB32BE}"/>
              </a:ext>
            </a:extLst>
          </p:cNvPr>
          <p:cNvSpPr txBox="1"/>
          <p:nvPr/>
        </p:nvSpPr>
        <p:spPr>
          <a:xfrm>
            <a:off x="8465339" y="6396335"/>
            <a:ext cx="372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[1] P. </a:t>
            </a:r>
            <a:r>
              <a:rPr lang="en-US" altLang="ko-KR" sz="1200" dirty="0" err="1"/>
              <a:t>Hoenberg</a:t>
            </a:r>
            <a:r>
              <a:rPr lang="en-US" altLang="ko-KR" sz="1200" dirty="0"/>
              <a:t>, </a:t>
            </a:r>
            <a:r>
              <a:rPr lang="en-US" altLang="ko-KR" sz="1200" i="1" dirty="0"/>
              <a:t>et al</a:t>
            </a:r>
            <a:r>
              <a:rPr lang="en-US" altLang="ko-KR" sz="1200" dirty="0"/>
              <a:t>., Phys. Rev. </a:t>
            </a:r>
            <a:r>
              <a:rPr lang="en-US" altLang="ko-KR" sz="1200" b="1" dirty="0"/>
              <a:t>136</a:t>
            </a:r>
            <a:r>
              <a:rPr lang="en-US" altLang="ko-KR" sz="1200" dirty="0"/>
              <a:t>, B864 (1964)</a:t>
            </a:r>
          </a:p>
          <a:p>
            <a:r>
              <a:rPr lang="en-US" altLang="ko-KR" sz="1200" dirty="0"/>
              <a:t>[2] W. Kohn, </a:t>
            </a:r>
            <a:r>
              <a:rPr lang="en-US" altLang="ko-KR" sz="1200" i="1" dirty="0"/>
              <a:t>et al</a:t>
            </a:r>
            <a:r>
              <a:rPr lang="en-US" altLang="ko-KR" sz="1200" dirty="0"/>
              <a:t>., Phys. Rev. </a:t>
            </a:r>
            <a:r>
              <a:rPr lang="en-US" altLang="ko-KR" sz="1200" b="1" dirty="0"/>
              <a:t>140</a:t>
            </a:r>
            <a:r>
              <a:rPr lang="en-US" altLang="ko-KR" sz="1200" dirty="0"/>
              <a:t>, A1133 (1965)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39648E-CFEE-72F7-9545-1068CE4DB4F5}"/>
              </a:ext>
            </a:extLst>
          </p:cNvPr>
          <p:cNvCxnSpPr>
            <a:cxnSpLocks/>
          </p:cNvCxnSpPr>
          <p:nvPr/>
        </p:nvCxnSpPr>
        <p:spPr>
          <a:xfrm>
            <a:off x="6918040" y="4584446"/>
            <a:ext cx="0" cy="631171"/>
          </a:xfrm>
          <a:prstGeom prst="line">
            <a:avLst/>
          </a:prstGeom>
          <a:ln w="38100"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DC3BBA0-94A4-82B1-4AEF-2B81D3250596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6845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04B7-F50C-9977-29A3-5F4273205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KR" dirty="0"/>
              <a:t>Recap: Quantitative errors in DFT-LDA and DFT-GGA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2E4BD-C17D-E4F1-9D06-801B609B1D8C}"/>
              </a:ext>
            </a:extLst>
          </p:cNvPr>
          <p:cNvSpPr txBox="1"/>
          <p:nvPr/>
        </p:nvSpPr>
        <p:spPr>
          <a:xfrm>
            <a:off x="4432443" y="5204465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Bandgap underestimation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872C0-C03D-821A-465E-1400EC1EF846}"/>
              </a:ext>
            </a:extLst>
          </p:cNvPr>
          <p:cNvSpPr txBox="1"/>
          <p:nvPr/>
        </p:nvSpPr>
        <p:spPr>
          <a:xfrm>
            <a:off x="7602474" y="6211669"/>
            <a:ext cx="4556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[1] A. J. Cohen, </a:t>
            </a:r>
            <a:r>
              <a:rPr lang="en-US" altLang="ko-KR" sz="1200" i="1" dirty="0"/>
              <a:t>et al</a:t>
            </a:r>
            <a:r>
              <a:rPr lang="en-US" altLang="ko-KR" sz="1200" dirty="0"/>
              <a:t>., Science </a:t>
            </a:r>
            <a:r>
              <a:rPr lang="en-US" altLang="ko-KR" sz="1200" b="1" dirty="0"/>
              <a:t>321</a:t>
            </a:r>
            <a:r>
              <a:rPr lang="en-US" altLang="ko-KR" sz="1200" dirty="0"/>
              <a:t>, 792 (2008)</a:t>
            </a:r>
          </a:p>
          <a:p>
            <a:r>
              <a:rPr lang="en-US" altLang="ko-KR" sz="1200" dirty="0"/>
              <a:t>[2] S.-H. Lee, </a:t>
            </a:r>
            <a:r>
              <a:rPr lang="en-US" altLang="ko-KR" sz="1200" i="1" dirty="0"/>
              <a:t>et al</a:t>
            </a:r>
            <a:r>
              <a:rPr lang="en-US" altLang="ko-KR" sz="1200" dirty="0"/>
              <a:t>., Phys. Rev. Research </a:t>
            </a:r>
            <a:r>
              <a:rPr lang="en-US" altLang="ko-KR" sz="1200" b="1" dirty="0"/>
              <a:t>2</a:t>
            </a:r>
            <a:r>
              <a:rPr lang="en-US" altLang="ko-KR" sz="1200" dirty="0"/>
              <a:t>, 043410 (2020) </a:t>
            </a:r>
          </a:p>
          <a:p>
            <a:r>
              <a:rPr lang="en-US" altLang="ko-KR" sz="1200" dirty="0"/>
              <a:t>[3] P. E. </a:t>
            </a:r>
            <a:r>
              <a:rPr lang="en-US" altLang="ko-KR" sz="1200" dirty="0" err="1"/>
              <a:t>Trevisanutto</a:t>
            </a:r>
            <a:r>
              <a:rPr lang="en-US" altLang="ko-KR" sz="1200" dirty="0"/>
              <a:t>, </a:t>
            </a:r>
            <a:r>
              <a:rPr lang="en-US" altLang="ko-KR" sz="1200" i="1" dirty="0"/>
              <a:t>et al.</a:t>
            </a:r>
            <a:r>
              <a:rPr lang="en-US" altLang="ko-KR" sz="1200" dirty="0"/>
              <a:t>, Phys. Rev. Lett. </a:t>
            </a:r>
            <a:r>
              <a:rPr lang="en-US" altLang="ko-KR" sz="1200" b="1" dirty="0"/>
              <a:t>101</a:t>
            </a:r>
            <a:r>
              <a:rPr lang="en-US" altLang="ko-KR" sz="1200" dirty="0"/>
              <a:t>, 226405 (2008)</a:t>
            </a:r>
            <a:endParaRPr lang="ko-KR" altLang="en-US" sz="1200" dirty="0"/>
          </a:p>
        </p:txBody>
      </p:sp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7C4C870-6E07-4B90-E6A8-A694CE158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75" y="2047016"/>
            <a:ext cx="3706835" cy="2704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9EE52A-9362-05D0-D2B2-C9C08435DF5D}"/>
              </a:ext>
            </a:extLst>
          </p:cNvPr>
          <p:cNvSpPr txBox="1"/>
          <p:nvPr/>
        </p:nvSpPr>
        <p:spPr>
          <a:xfrm>
            <a:off x="1233211" y="5204465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Delocalization error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1EA5D-682C-E0E3-F664-C3E133343B58}"/>
              </a:ext>
            </a:extLst>
          </p:cNvPr>
          <p:cNvSpPr txBox="1"/>
          <p:nvPr/>
        </p:nvSpPr>
        <p:spPr>
          <a:xfrm>
            <a:off x="8581177" y="5204465"/>
            <a:ext cx="2813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Inaccurate</a:t>
            </a:r>
            <a:r>
              <a:rPr lang="en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Fermi velocity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03D20B-B2C5-8F37-4B2E-07C0EE6B73E3}"/>
              </a:ext>
            </a:extLst>
          </p:cNvPr>
          <p:cNvSpPr txBox="1"/>
          <p:nvPr/>
        </p:nvSpPr>
        <p:spPr>
          <a:xfrm>
            <a:off x="1302140" y="1496037"/>
            <a:ext cx="21034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dirty="0"/>
              <a:t>Chlorine atom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11DD64-690E-9336-1845-57FC9E1930B2}"/>
              </a:ext>
            </a:extLst>
          </p:cNvPr>
          <p:cNvSpPr txBox="1"/>
          <p:nvPr/>
        </p:nvSpPr>
        <p:spPr>
          <a:xfrm>
            <a:off x="8486719" y="1496037"/>
            <a:ext cx="3012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dirty="0"/>
              <a:t>Monolayer graphene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758B08-2A85-82AE-0200-0845D8643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594" y="2280066"/>
            <a:ext cx="2353459" cy="22755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02C6C8-F468-6FCD-4E2B-866FB9337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402" y="2443290"/>
            <a:ext cx="2588284" cy="175089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B0EBA9B-CD67-FBD2-D05E-81C324BD37C1}"/>
              </a:ext>
            </a:extLst>
          </p:cNvPr>
          <p:cNvGrpSpPr/>
          <p:nvPr/>
        </p:nvGrpSpPr>
        <p:grpSpPr>
          <a:xfrm>
            <a:off x="3969616" y="2005792"/>
            <a:ext cx="3137152" cy="2856137"/>
            <a:chOff x="3969616" y="2005792"/>
            <a:chExt cx="3137152" cy="285613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4977395-0A99-2412-6B9D-B4DA19127AD6}"/>
                </a:ext>
              </a:extLst>
            </p:cNvPr>
            <p:cNvGrpSpPr/>
            <p:nvPr/>
          </p:nvGrpSpPr>
          <p:grpSpPr>
            <a:xfrm>
              <a:off x="3969616" y="2005792"/>
              <a:ext cx="3137152" cy="2856137"/>
              <a:chOff x="3969616" y="2005792"/>
              <a:chExt cx="3137152" cy="2856137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958CB32-EB93-3E1F-965E-66BC60E714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69616" y="2005792"/>
                <a:ext cx="3137152" cy="2856137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9C71E8-95BF-4D88-301A-DB7710FF967D}"/>
                  </a:ext>
                </a:extLst>
              </p:cNvPr>
              <p:cNvSpPr txBox="1"/>
              <p:nvPr/>
            </p:nvSpPr>
            <p:spPr>
              <a:xfrm>
                <a:off x="4592379" y="2134927"/>
                <a:ext cx="739429" cy="48474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KR" sz="850" dirty="0"/>
                  <a:t>PBE</a:t>
                </a:r>
              </a:p>
              <a:p>
                <a:pPr algn="r"/>
                <a:r>
                  <a:rPr lang="en-KR" sz="850" dirty="0"/>
                  <a:t>HSE</a:t>
                </a:r>
              </a:p>
              <a:p>
                <a:pPr algn="r"/>
                <a:r>
                  <a:rPr lang="en-KR" sz="850" dirty="0"/>
                  <a:t>GW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0C2DA1-C67F-B479-FABA-150A1318B383}"/>
                </a:ext>
              </a:extLst>
            </p:cNvPr>
            <p:cNvSpPr txBox="1"/>
            <p:nvPr/>
          </p:nvSpPr>
          <p:spPr>
            <a:xfrm>
              <a:off x="4592379" y="2134927"/>
              <a:ext cx="739429" cy="49487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>
                <a:lnSpc>
                  <a:spcPct val="105000"/>
                </a:lnSpc>
              </a:pPr>
              <a:r>
                <a:rPr lang="en-KR" sz="850" dirty="0"/>
                <a:t>PBE</a:t>
              </a:r>
            </a:p>
            <a:p>
              <a:pPr algn="r">
                <a:lnSpc>
                  <a:spcPct val="105000"/>
                </a:lnSpc>
              </a:pPr>
              <a:r>
                <a:rPr lang="en-KR" sz="850" dirty="0"/>
                <a:t>HSE</a:t>
              </a:r>
            </a:p>
            <a:p>
              <a:pPr algn="r">
                <a:lnSpc>
                  <a:spcPct val="105000"/>
                </a:lnSpc>
              </a:pPr>
              <a:r>
                <a:rPr lang="en-KR" sz="850" dirty="0"/>
                <a:t>GW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E79401C-5063-E747-FC2D-70F9C6CFAACF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303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5DAE-740D-6254-6BEC-B60D6FBA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23F6-5F5E-5D69-4C5B-B40BD0B9EB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KR" dirty="0"/>
              <a:t>Recap: Qualitative errors in DFT-LDA and DFT-GGA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2F7A47-374B-4916-F7FF-43DA716B0CE2}"/>
              </a:ext>
            </a:extLst>
          </p:cNvPr>
          <p:cNvSpPr txBox="1"/>
          <p:nvPr/>
        </p:nvSpPr>
        <p:spPr>
          <a:xfrm>
            <a:off x="1005952" y="1394159"/>
            <a:ext cx="2377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dirty="0"/>
              <a:t>Indium arsenide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568F8-ED59-34D5-15D0-68FA93368659}"/>
              </a:ext>
            </a:extLst>
          </p:cNvPr>
          <p:cNvSpPr txBox="1"/>
          <p:nvPr/>
        </p:nvSpPr>
        <p:spPr>
          <a:xfrm>
            <a:off x="4863270" y="1394159"/>
            <a:ext cx="1898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dirty="0"/>
              <a:t>Cobalt oxide</a:t>
            </a:r>
          </a:p>
        </p:txBody>
      </p:sp>
      <p:pic>
        <p:nvPicPr>
          <p:cNvPr id="4" name="Picture 3" descr="A close-up of a molecule&#10;&#10;Description automatically generated">
            <a:extLst>
              <a:ext uri="{FF2B5EF4-FFF2-40B4-BE49-F238E27FC236}">
                <a16:creationId xmlns:a16="http://schemas.microsoft.com/office/drawing/2014/main" id="{89CE554A-5315-8A68-5D20-DB4C90CC9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63" t="11415" r="35316" b="14006"/>
          <a:stretch/>
        </p:blipFill>
        <p:spPr>
          <a:xfrm>
            <a:off x="910067" y="2326342"/>
            <a:ext cx="2348848" cy="22053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A6D695-1E30-E9DC-AA37-BDA976DFCF0D}"/>
              </a:ext>
            </a:extLst>
          </p:cNvPr>
          <p:cNvSpPr txBox="1"/>
          <p:nvPr/>
        </p:nvSpPr>
        <p:spPr>
          <a:xfrm>
            <a:off x="1902390" y="2326342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As</a:t>
            </a:r>
            <a:endParaRPr lang="en-KR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FF9B3-F08A-448D-E647-87585C577672}"/>
              </a:ext>
            </a:extLst>
          </p:cNvPr>
          <p:cNvSpPr txBox="1"/>
          <p:nvPr/>
        </p:nvSpPr>
        <p:spPr>
          <a:xfrm>
            <a:off x="2528127" y="3003115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</a:t>
            </a:r>
            <a:endParaRPr lang="en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98F91-E695-05AE-EAE7-798638BFBB43}"/>
              </a:ext>
            </a:extLst>
          </p:cNvPr>
          <p:cNvSpPr txBox="1"/>
          <p:nvPr/>
        </p:nvSpPr>
        <p:spPr>
          <a:xfrm>
            <a:off x="817275" y="4876818"/>
            <a:ext cx="2864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GGA: topological insulator</a:t>
            </a:r>
          </a:p>
          <a:p>
            <a:r>
              <a:rPr lang="en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Expt.: normal insulator</a:t>
            </a:r>
          </a:p>
        </p:txBody>
      </p:sp>
      <p:pic>
        <p:nvPicPr>
          <p:cNvPr id="11" name="그림 2">
            <a:extLst>
              <a:ext uri="{FF2B5EF4-FFF2-40B4-BE49-F238E27FC236}">
                <a16:creationId xmlns:a16="http://schemas.microsoft.com/office/drawing/2014/main" id="{396E8F90-6D79-66E1-84E0-69A8FD864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361" y="2326342"/>
            <a:ext cx="3410934" cy="23952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C87BA2-1CDF-336F-2B59-AF6E1A53E320}"/>
              </a:ext>
            </a:extLst>
          </p:cNvPr>
          <p:cNvSpPr txBox="1"/>
          <p:nvPr/>
        </p:nvSpPr>
        <p:spPr>
          <a:xfrm>
            <a:off x="4372069" y="487681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Dynamically unstable in GGA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F314B2-26BA-C114-D59D-D41E4BD53466}"/>
              </a:ext>
            </a:extLst>
          </p:cNvPr>
          <p:cNvSpPr txBox="1"/>
          <p:nvPr/>
        </p:nvSpPr>
        <p:spPr>
          <a:xfrm>
            <a:off x="6049812" y="1910943"/>
            <a:ext cx="684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GGA</a:t>
            </a:r>
          </a:p>
          <a:p>
            <a:r>
              <a:rPr lang="en-US" altLang="ko-KR" sz="1200" dirty="0"/>
              <a:t>DFT+U</a:t>
            </a:r>
            <a:endParaRPr lang="ko-KR" altLang="en-US" sz="1200" dirty="0"/>
          </a:p>
        </p:txBody>
      </p:sp>
      <p:cxnSp>
        <p:nvCxnSpPr>
          <p:cNvPr id="14" name="직선 연결선 20">
            <a:extLst>
              <a:ext uri="{FF2B5EF4-FFF2-40B4-BE49-F238E27FC236}">
                <a16:creationId xmlns:a16="http://schemas.microsoft.com/office/drawing/2014/main" id="{5C0EA801-2A0D-357A-F357-5D5FC4544C03}"/>
              </a:ext>
            </a:extLst>
          </p:cNvPr>
          <p:cNvCxnSpPr/>
          <p:nvPr/>
        </p:nvCxnSpPr>
        <p:spPr>
          <a:xfrm>
            <a:off x="6756896" y="2040998"/>
            <a:ext cx="504056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21">
            <a:extLst>
              <a:ext uri="{FF2B5EF4-FFF2-40B4-BE49-F238E27FC236}">
                <a16:creationId xmlns:a16="http://schemas.microsoft.com/office/drawing/2014/main" id="{CE58C7A9-CD15-85D9-6B82-EAAD4D44C241}"/>
              </a:ext>
            </a:extLst>
          </p:cNvPr>
          <p:cNvCxnSpPr/>
          <p:nvPr/>
        </p:nvCxnSpPr>
        <p:spPr>
          <a:xfrm>
            <a:off x="6756896" y="2237972"/>
            <a:ext cx="504056" cy="0"/>
          </a:xfrm>
          <a:prstGeom prst="line">
            <a:avLst/>
          </a:prstGeom>
          <a:ln w="38100">
            <a:solidFill>
              <a:srgbClr val="FF24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358DCC6-BD51-C349-44E8-4DF4201E371F}"/>
              </a:ext>
            </a:extLst>
          </p:cNvPr>
          <p:cNvSpPr txBox="1"/>
          <p:nvPr/>
        </p:nvSpPr>
        <p:spPr>
          <a:xfrm>
            <a:off x="8719454" y="1388551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400" dirty="0"/>
              <a:t>Bismuth selenide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36C9B0-992C-66F1-A09A-E037889105E6}"/>
              </a:ext>
            </a:extLst>
          </p:cNvPr>
          <p:cNvSpPr txBox="1"/>
          <p:nvPr/>
        </p:nvSpPr>
        <p:spPr>
          <a:xfrm>
            <a:off x="8445091" y="4876818"/>
            <a:ext cx="2608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LDA: indirect band gap</a:t>
            </a:r>
          </a:p>
          <a:p>
            <a:r>
              <a:rPr lang="en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GW: direct band gap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1F62D-6E79-32DA-CD20-BC328522EAB5}"/>
              </a:ext>
            </a:extLst>
          </p:cNvPr>
          <p:cNvSpPr txBox="1"/>
          <p:nvPr/>
        </p:nvSpPr>
        <p:spPr>
          <a:xfrm>
            <a:off x="8007841" y="6208518"/>
            <a:ext cx="4184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[1] J. Vidal, </a:t>
            </a:r>
            <a:r>
              <a:rPr lang="en-US" altLang="ko-KR" sz="1200" i="1" dirty="0"/>
              <a:t>et al.</a:t>
            </a:r>
            <a:r>
              <a:rPr lang="en-US" altLang="ko-KR" sz="1200" dirty="0"/>
              <a:t>, Phys. Rev. B </a:t>
            </a:r>
            <a:r>
              <a:rPr lang="en-US" altLang="ko-KR" sz="1200" b="1" dirty="0"/>
              <a:t>84</a:t>
            </a:r>
            <a:r>
              <a:rPr lang="en-US" altLang="ko-KR" sz="1200" dirty="0"/>
              <a:t>, 041109 (2011)</a:t>
            </a:r>
          </a:p>
          <a:p>
            <a:r>
              <a:rPr lang="en-US" altLang="ko-KR" sz="1200" dirty="0"/>
              <a:t>[2] A, Floris, </a:t>
            </a:r>
            <a:r>
              <a:rPr lang="en-US" altLang="ko-KR" sz="1200" i="1" dirty="0"/>
              <a:t>et al</a:t>
            </a:r>
            <a:r>
              <a:rPr lang="en-US" altLang="ko-KR" sz="1200" dirty="0"/>
              <a:t>., Phys. Rev. B </a:t>
            </a:r>
            <a:r>
              <a:rPr lang="en-US" altLang="ko-KR" sz="1200" b="1" dirty="0"/>
              <a:t>101</a:t>
            </a:r>
            <a:r>
              <a:rPr lang="en-US" altLang="ko-KR" sz="1200" dirty="0"/>
              <a:t>, 064305 (2020)</a:t>
            </a:r>
          </a:p>
          <a:p>
            <a:r>
              <a:rPr lang="en-US" altLang="ko-KR" sz="1200" dirty="0"/>
              <a:t>[3] O. V. </a:t>
            </a:r>
            <a:r>
              <a:rPr lang="en-US" altLang="ko-KR" sz="1200" dirty="0" err="1"/>
              <a:t>Yazyev</a:t>
            </a:r>
            <a:r>
              <a:rPr lang="en-US" altLang="ko-KR" sz="1200" dirty="0"/>
              <a:t>, </a:t>
            </a:r>
            <a:r>
              <a:rPr lang="en-US" altLang="ko-KR" sz="1200" i="1" dirty="0"/>
              <a:t>et al.</a:t>
            </a:r>
            <a:r>
              <a:rPr lang="en-US" altLang="ko-KR" sz="1200" dirty="0"/>
              <a:t>, Phys. Rev. B </a:t>
            </a:r>
            <a:r>
              <a:rPr lang="en-US" altLang="ko-KR" sz="1200" b="1" dirty="0"/>
              <a:t>85</a:t>
            </a:r>
            <a:r>
              <a:rPr lang="en-US" altLang="ko-KR" sz="1200" dirty="0"/>
              <a:t>, 161101(R) (2012)</a:t>
            </a:r>
            <a:endParaRPr lang="ko-KR" alt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1A70FFB-43E2-4CD8-95AF-F3DCD0285831}"/>
              </a:ext>
            </a:extLst>
          </p:cNvPr>
          <p:cNvGrpSpPr/>
          <p:nvPr/>
        </p:nvGrpSpPr>
        <p:grpSpPr>
          <a:xfrm>
            <a:off x="8332191" y="2023657"/>
            <a:ext cx="2949742" cy="2810685"/>
            <a:chOff x="8332191" y="2023657"/>
            <a:chExt cx="2949742" cy="281068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561FBD3-BA16-47B6-8D67-0C735E6ED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45091" y="2023657"/>
              <a:ext cx="2724754" cy="281068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BFAD712-A2D3-23C9-B63A-EE299907547E}"/>
                </a:ext>
              </a:extLst>
            </p:cNvPr>
            <p:cNvSpPr/>
            <p:nvPr/>
          </p:nvSpPr>
          <p:spPr>
            <a:xfrm>
              <a:off x="8332191" y="2040998"/>
              <a:ext cx="343458" cy="2853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0F01D48-4326-82DE-D10E-09B977C3BCF1}"/>
                </a:ext>
              </a:extLst>
            </p:cNvPr>
            <p:cNvSpPr/>
            <p:nvPr/>
          </p:nvSpPr>
          <p:spPr>
            <a:xfrm>
              <a:off x="11110204" y="2087264"/>
              <a:ext cx="171729" cy="2853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B4E64FB-9563-50AD-206A-4BD3EFA4C220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5887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40AF5-FA6F-0961-3B0D-84B277AE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D6DE5-2BEE-2797-A036-9DF1CF51E8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588"/>
          <a:stretch/>
        </p:blipFill>
        <p:spPr>
          <a:xfrm>
            <a:off x="558790" y="1177736"/>
            <a:ext cx="9721380" cy="847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494620-BBA0-FBB2-FC18-18B55A469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Various method for correction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1A062366-4B03-9BC4-709C-BD95DBA2A2DE}"/>
              </a:ext>
            </a:extLst>
          </p:cNvPr>
          <p:cNvSpPr/>
          <p:nvPr/>
        </p:nvSpPr>
        <p:spPr>
          <a:xfrm>
            <a:off x="1041485" y="3230660"/>
            <a:ext cx="1283540" cy="469375"/>
          </a:xfrm>
          <a:prstGeom prst="rightArrow">
            <a:avLst>
              <a:gd name="adj1" fmla="val 30328"/>
              <a:gd name="adj2" fmla="val 6604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25000">
                <a:schemeClr val="bg1">
                  <a:lumMod val="75000"/>
                </a:schemeClr>
              </a:gs>
              <a:gs pos="69000">
                <a:schemeClr val="bg1">
                  <a:lumMod val="50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B6BB4F-3983-626F-7E7F-A5B08736AFE5}"/>
              </a:ext>
            </a:extLst>
          </p:cNvPr>
          <p:cNvSpPr txBox="1"/>
          <p:nvPr/>
        </p:nvSpPr>
        <p:spPr>
          <a:xfrm>
            <a:off x="2542993" y="3280681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Self-energy correction through GW approximation</a:t>
            </a:r>
            <a:endParaRPr lang="ko-KR" altLang="en-US"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906D7E6-AA31-7888-703B-0835CDD77937}"/>
              </a:ext>
            </a:extLst>
          </p:cNvPr>
          <p:cNvSpPr/>
          <p:nvPr/>
        </p:nvSpPr>
        <p:spPr>
          <a:xfrm>
            <a:off x="1041485" y="3950470"/>
            <a:ext cx="1283540" cy="469375"/>
          </a:xfrm>
          <a:prstGeom prst="rightArrow">
            <a:avLst>
              <a:gd name="adj1" fmla="val 30328"/>
              <a:gd name="adj2" fmla="val 6604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25000">
                <a:schemeClr val="bg1">
                  <a:lumMod val="75000"/>
                </a:schemeClr>
              </a:gs>
              <a:gs pos="69000">
                <a:schemeClr val="bg1">
                  <a:lumMod val="50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992F3A-B97A-DBC2-4AAD-4997B3111A31}"/>
              </a:ext>
            </a:extLst>
          </p:cNvPr>
          <p:cNvSpPr txBox="1"/>
          <p:nvPr/>
        </p:nvSpPr>
        <p:spPr>
          <a:xfrm>
            <a:off x="2542992" y="5424513"/>
            <a:ext cx="558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Local self-interaction error correction through DFT+</a:t>
            </a:r>
            <a:r>
              <a:rPr lang="en-US" altLang="ko-KR" i="1" dirty="0"/>
              <a:t>U</a:t>
            </a:r>
            <a:endParaRPr lang="ko-KR" altLang="en-US" i="1" dirty="0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11AE3C6-9885-BE1E-0B50-BECC93A2F510}"/>
              </a:ext>
            </a:extLst>
          </p:cNvPr>
          <p:cNvSpPr/>
          <p:nvPr/>
        </p:nvSpPr>
        <p:spPr>
          <a:xfrm>
            <a:off x="1041485" y="4670280"/>
            <a:ext cx="1283540" cy="469375"/>
          </a:xfrm>
          <a:prstGeom prst="rightArrow">
            <a:avLst>
              <a:gd name="adj1" fmla="val 30328"/>
              <a:gd name="adj2" fmla="val 6604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25000">
                <a:schemeClr val="bg1">
                  <a:lumMod val="75000"/>
                </a:schemeClr>
              </a:gs>
              <a:gs pos="69000">
                <a:schemeClr val="bg1">
                  <a:lumMod val="50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161F4-6213-F6EB-D837-336AD87A82FC}"/>
              </a:ext>
            </a:extLst>
          </p:cNvPr>
          <p:cNvSpPr txBox="1"/>
          <p:nvPr/>
        </p:nvSpPr>
        <p:spPr>
          <a:xfrm>
            <a:off x="2542993" y="472030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Hybrid functional </a:t>
            </a:r>
            <a:endParaRPr lang="ko-KR" altLang="en-US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2C55039-6857-46AB-1502-955431C4136B}"/>
              </a:ext>
            </a:extLst>
          </p:cNvPr>
          <p:cNvSpPr/>
          <p:nvPr/>
        </p:nvSpPr>
        <p:spPr>
          <a:xfrm>
            <a:off x="1041485" y="5373928"/>
            <a:ext cx="1283540" cy="469375"/>
          </a:xfrm>
          <a:prstGeom prst="rightArrow">
            <a:avLst>
              <a:gd name="adj1" fmla="val 30328"/>
              <a:gd name="adj2" fmla="val 6604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25000">
                <a:schemeClr val="bg1">
                  <a:lumMod val="75000"/>
                </a:schemeClr>
              </a:gs>
              <a:gs pos="69000">
                <a:schemeClr val="bg1">
                  <a:lumMod val="50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BEFE8C-4FE6-0465-C8D1-8CF7DA8E83E2}"/>
              </a:ext>
            </a:extLst>
          </p:cNvPr>
          <p:cNvSpPr txBox="1"/>
          <p:nvPr/>
        </p:nvSpPr>
        <p:spPr>
          <a:xfrm>
            <a:off x="2542992" y="4000263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Dynamical mean-field theory + DFT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E1288-5AFE-7194-F1C2-0F22A8DA214E}"/>
              </a:ext>
            </a:extLst>
          </p:cNvPr>
          <p:cNvSpPr txBox="1"/>
          <p:nvPr/>
        </p:nvSpPr>
        <p:spPr>
          <a:xfrm>
            <a:off x="2542992" y="6143759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and many others…</a:t>
            </a:r>
            <a:endParaRPr lang="ko-KR" alt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E57A3E6-7337-5F6A-409F-8E45A91247C8}"/>
              </a:ext>
            </a:extLst>
          </p:cNvPr>
          <p:cNvCxnSpPr>
            <a:cxnSpLocks/>
          </p:cNvCxnSpPr>
          <p:nvPr/>
        </p:nvCxnSpPr>
        <p:spPr>
          <a:xfrm>
            <a:off x="6524753" y="1876250"/>
            <a:ext cx="775692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6B31D41-B78D-D90E-5D1D-1AF4F90C0DA1}"/>
              </a:ext>
            </a:extLst>
          </p:cNvPr>
          <p:cNvSpPr txBox="1"/>
          <p:nvPr/>
        </p:nvSpPr>
        <p:spPr>
          <a:xfrm>
            <a:off x="509404" y="2507421"/>
            <a:ext cx="11015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Approximate functionals for XC such as LDA or GGA are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fast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 but makes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self-interaction error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B8DFE9-770E-5D70-FAEC-F4B9FF194131}"/>
              </a:ext>
            </a:extLst>
          </p:cNvPr>
          <p:cNvCxnSpPr>
            <a:cxnSpLocks/>
          </p:cNvCxnSpPr>
          <p:nvPr/>
        </p:nvCxnSpPr>
        <p:spPr>
          <a:xfrm>
            <a:off x="6918040" y="1876250"/>
            <a:ext cx="0" cy="631171"/>
          </a:xfrm>
          <a:prstGeom prst="line">
            <a:avLst/>
          </a:prstGeom>
          <a:ln w="38100"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9D11471-4898-8E1C-6AB9-5B803CF92096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3833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8F2E7-6D95-811A-7260-36A8A5591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42DFD7-762D-FE4E-DE99-12D1953F2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588"/>
          <a:stretch/>
        </p:blipFill>
        <p:spPr>
          <a:xfrm>
            <a:off x="558790" y="1177736"/>
            <a:ext cx="9721380" cy="847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9400CB-40F1-4EDF-CC0F-ECCCAF85FA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Various method for correction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06C9208-50AB-EBC2-7C78-68243E4F5B1F}"/>
              </a:ext>
            </a:extLst>
          </p:cNvPr>
          <p:cNvSpPr/>
          <p:nvPr/>
        </p:nvSpPr>
        <p:spPr>
          <a:xfrm>
            <a:off x="1041485" y="3230660"/>
            <a:ext cx="1283540" cy="469375"/>
          </a:xfrm>
          <a:prstGeom prst="rightArrow">
            <a:avLst>
              <a:gd name="adj1" fmla="val 30328"/>
              <a:gd name="adj2" fmla="val 6604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25000">
                <a:schemeClr val="bg1">
                  <a:lumMod val="75000"/>
                </a:schemeClr>
              </a:gs>
              <a:gs pos="69000">
                <a:schemeClr val="bg1">
                  <a:lumMod val="50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F6CDA4-2E46-A7D2-777B-3682E6F2235A}"/>
              </a:ext>
            </a:extLst>
          </p:cNvPr>
          <p:cNvSpPr txBox="1"/>
          <p:nvPr/>
        </p:nvSpPr>
        <p:spPr>
          <a:xfrm>
            <a:off x="2542993" y="3280681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Self-energy correction through GW approximation</a:t>
            </a:r>
            <a:endParaRPr lang="ko-KR" altLang="en-US"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D535EAF0-2A8A-16A5-8F4D-040F4CA7D556}"/>
              </a:ext>
            </a:extLst>
          </p:cNvPr>
          <p:cNvSpPr/>
          <p:nvPr/>
        </p:nvSpPr>
        <p:spPr>
          <a:xfrm>
            <a:off x="1041485" y="3950470"/>
            <a:ext cx="1283540" cy="469375"/>
          </a:xfrm>
          <a:prstGeom prst="rightArrow">
            <a:avLst>
              <a:gd name="adj1" fmla="val 30328"/>
              <a:gd name="adj2" fmla="val 6604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25000">
                <a:schemeClr val="bg1">
                  <a:lumMod val="75000"/>
                </a:schemeClr>
              </a:gs>
              <a:gs pos="69000">
                <a:schemeClr val="bg1">
                  <a:lumMod val="50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3AD6AB-5DB3-98E2-D967-5969C3822E48}"/>
              </a:ext>
            </a:extLst>
          </p:cNvPr>
          <p:cNvSpPr txBox="1"/>
          <p:nvPr/>
        </p:nvSpPr>
        <p:spPr>
          <a:xfrm>
            <a:off x="2542992" y="5424513"/>
            <a:ext cx="558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Local self-interaction error correction through DFT+</a:t>
            </a:r>
            <a:r>
              <a:rPr lang="en-US" altLang="ko-KR" i="1" dirty="0"/>
              <a:t>U</a:t>
            </a:r>
            <a:endParaRPr lang="ko-KR" altLang="en-US" i="1" dirty="0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9389779D-BB6D-F775-4C61-1C8E46E1A770}"/>
              </a:ext>
            </a:extLst>
          </p:cNvPr>
          <p:cNvSpPr/>
          <p:nvPr/>
        </p:nvSpPr>
        <p:spPr>
          <a:xfrm>
            <a:off x="1041485" y="4670280"/>
            <a:ext cx="1283540" cy="469375"/>
          </a:xfrm>
          <a:prstGeom prst="rightArrow">
            <a:avLst>
              <a:gd name="adj1" fmla="val 30328"/>
              <a:gd name="adj2" fmla="val 6604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25000">
                <a:schemeClr val="bg1">
                  <a:lumMod val="75000"/>
                </a:schemeClr>
              </a:gs>
              <a:gs pos="69000">
                <a:schemeClr val="bg1">
                  <a:lumMod val="50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C2A1C0-3023-017B-33A3-33D2DDFFABAC}"/>
              </a:ext>
            </a:extLst>
          </p:cNvPr>
          <p:cNvSpPr txBox="1"/>
          <p:nvPr/>
        </p:nvSpPr>
        <p:spPr>
          <a:xfrm>
            <a:off x="2542993" y="472030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Hybrid functional </a:t>
            </a:r>
            <a:endParaRPr lang="ko-KR" altLang="en-US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A3E7105E-EABB-E997-E976-7BF054A50556}"/>
              </a:ext>
            </a:extLst>
          </p:cNvPr>
          <p:cNvSpPr/>
          <p:nvPr/>
        </p:nvSpPr>
        <p:spPr>
          <a:xfrm>
            <a:off x="1041485" y="5373928"/>
            <a:ext cx="1283540" cy="469375"/>
          </a:xfrm>
          <a:prstGeom prst="rightArrow">
            <a:avLst>
              <a:gd name="adj1" fmla="val 30328"/>
              <a:gd name="adj2" fmla="val 6604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25000">
                <a:schemeClr val="bg1">
                  <a:lumMod val="75000"/>
                </a:schemeClr>
              </a:gs>
              <a:gs pos="69000">
                <a:schemeClr val="bg1">
                  <a:lumMod val="50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BC010E-AA53-2EE4-C80C-7FA86E4A2A70}"/>
              </a:ext>
            </a:extLst>
          </p:cNvPr>
          <p:cNvSpPr txBox="1"/>
          <p:nvPr/>
        </p:nvSpPr>
        <p:spPr>
          <a:xfrm>
            <a:off x="2542992" y="4000263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Dynamical mean-field theory + DFT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90D95-A510-CFC9-964A-92DD7E985D56}"/>
              </a:ext>
            </a:extLst>
          </p:cNvPr>
          <p:cNvSpPr txBox="1"/>
          <p:nvPr/>
        </p:nvSpPr>
        <p:spPr>
          <a:xfrm>
            <a:off x="2542992" y="6143759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and many others…</a:t>
            </a:r>
            <a:endParaRPr lang="ko-KR" alt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C6B997-5794-1D17-0F88-40CE334EF52B}"/>
              </a:ext>
            </a:extLst>
          </p:cNvPr>
          <p:cNvCxnSpPr>
            <a:cxnSpLocks/>
          </p:cNvCxnSpPr>
          <p:nvPr/>
        </p:nvCxnSpPr>
        <p:spPr>
          <a:xfrm>
            <a:off x="6524753" y="1876250"/>
            <a:ext cx="775692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5A6931B-D4C5-76CA-9CCF-32B34DD878E6}"/>
              </a:ext>
            </a:extLst>
          </p:cNvPr>
          <p:cNvSpPr txBox="1"/>
          <p:nvPr/>
        </p:nvSpPr>
        <p:spPr>
          <a:xfrm>
            <a:off x="509404" y="2507421"/>
            <a:ext cx="11015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Approximate functionals for XC such as LDA or GGA are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fast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 but makes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</a:rPr>
              <a:t>self-interaction error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572948-7173-FCDD-3CC5-F2688D2D4B25}"/>
              </a:ext>
            </a:extLst>
          </p:cNvPr>
          <p:cNvCxnSpPr>
            <a:cxnSpLocks/>
          </p:cNvCxnSpPr>
          <p:nvPr/>
        </p:nvCxnSpPr>
        <p:spPr>
          <a:xfrm>
            <a:off x="6918040" y="1876250"/>
            <a:ext cx="0" cy="631171"/>
          </a:xfrm>
          <a:prstGeom prst="line">
            <a:avLst/>
          </a:prstGeom>
          <a:ln w="38100"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6DDCAD8-A7CB-2921-60CB-70504540E07A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6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DA34F6A7-2549-85BF-ED7A-3E3300C55B4A}"/>
              </a:ext>
            </a:extLst>
          </p:cNvPr>
          <p:cNvSpPr/>
          <p:nvPr/>
        </p:nvSpPr>
        <p:spPr>
          <a:xfrm>
            <a:off x="8083315" y="3576544"/>
            <a:ext cx="605641" cy="58947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9C857-1D7D-2249-9E96-981F7D3F92F3}"/>
              </a:ext>
            </a:extLst>
          </p:cNvPr>
          <p:cNvSpPr txBox="1"/>
          <p:nvPr/>
        </p:nvSpPr>
        <p:spPr>
          <a:xfrm>
            <a:off x="8763805" y="3686617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Beyond the one-body treatment</a:t>
            </a:r>
            <a:endParaRPr lang="en-KR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1BC963B-8C51-7543-D3C6-CD04840D240E}"/>
              </a:ext>
            </a:extLst>
          </p:cNvPr>
          <p:cNvSpPr/>
          <p:nvPr/>
        </p:nvSpPr>
        <p:spPr>
          <a:xfrm>
            <a:off x="8083314" y="4933171"/>
            <a:ext cx="605641" cy="58947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21CE7-B9B2-38D3-FEDC-54B762DEF69C}"/>
              </a:ext>
            </a:extLst>
          </p:cNvPr>
          <p:cNvSpPr txBox="1"/>
          <p:nvPr/>
        </p:nvSpPr>
        <p:spPr>
          <a:xfrm>
            <a:off x="8835055" y="5043244"/>
            <a:ext cx="1706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Today’s scope.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0306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E332-D12F-6567-2F91-9AF3096C0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Local Density Approximation (LDA)</a:t>
            </a:r>
            <a:endParaRPr lang="en-K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A8962E-16F9-7389-561F-92034DA91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016" y="2151265"/>
            <a:ext cx="6978756" cy="414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4BC270-93BB-AB6D-5400-C7FE670E5175}"/>
              </a:ext>
            </a:extLst>
          </p:cNvPr>
          <p:cNvSpPr txBox="1"/>
          <p:nvPr/>
        </p:nvSpPr>
        <p:spPr>
          <a:xfrm>
            <a:off x="527384" y="1117759"/>
            <a:ext cx="6449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ko-KR" dirty="0"/>
              <a:t>Derived from the homogeneous electron gas (HEG) model.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0531C8-DC58-C29A-D699-755682DA63E6}"/>
                  </a:ext>
                </a:extLst>
              </p:cNvPr>
              <p:cNvSpPr txBox="1"/>
              <p:nvPr/>
            </p:nvSpPr>
            <p:spPr>
              <a:xfrm>
                <a:off x="527383" y="1652148"/>
                <a:ext cx="87393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altLang="ko-KR" dirty="0"/>
                  <a:t>The XC energy is calculated purely based on the local density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at each point.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0531C8-DC58-C29A-D699-755682DA6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3" y="1652148"/>
                <a:ext cx="8739315" cy="369332"/>
              </a:xfrm>
              <a:prstGeom prst="rect">
                <a:avLst/>
              </a:prstGeom>
              <a:blipFill>
                <a:blip r:embed="rId3"/>
                <a:stretch>
                  <a:fillRect l="-435" t="-6667" b="-2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028052-06B8-9154-681C-1890002F6221}"/>
                  </a:ext>
                </a:extLst>
              </p:cNvPr>
              <p:cNvSpPr txBox="1"/>
              <p:nvPr/>
            </p:nvSpPr>
            <p:spPr>
              <a:xfrm>
                <a:off x="289878" y="2944701"/>
                <a:ext cx="4655633" cy="96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𝑥𝑐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𝐿𝐷𝐴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nary>
                    </m:oMath>
                  </m:oMathPara>
                </a14:m>
                <a:endParaRPr lang="en-KR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028052-06B8-9154-681C-1890002F6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78" y="2944701"/>
                <a:ext cx="4655633" cy="968598"/>
              </a:xfrm>
              <a:prstGeom prst="rect">
                <a:avLst/>
              </a:prstGeom>
              <a:blipFill>
                <a:blip r:embed="rId4"/>
                <a:stretch>
                  <a:fillRect t="-155128" b="-21410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07F984-B896-B234-90CF-12B340324578}"/>
                  </a:ext>
                </a:extLst>
              </p:cNvPr>
              <p:cNvSpPr txBox="1"/>
              <p:nvPr/>
            </p:nvSpPr>
            <p:spPr>
              <a:xfrm>
                <a:off x="337378" y="3913299"/>
                <a:ext cx="4531432" cy="1118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𝐿𝐷𝐴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nary>
                    </m:oMath>
                  </m:oMathPara>
                </a14:m>
                <a:endParaRPr lang="en-KR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07F984-B896-B234-90CF-12B340324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78" y="3913299"/>
                <a:ext cx="4531432" cy="1118704"/>
              </a:xfrm>
              <a:prstGeom prst="rect">
                <a:avLst/>
              </a:prstGeom>
              <a:blipFill>
                <a:blip r:embed="rId5"/>
                <a:stretch>
                  <a:fillRect l="-838" t="-125000" r="-279" b="-19090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B0E420E-D796-BE49-AD3E-5C3D2E02126C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95770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AFEE2-A281-0BEF-E69F-7C9924147A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Generalized Grandient Approximation (GGA)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12F30-D047-79BD-D792-E77F921DFB45}"/>
                  </a:ext>
                </a:extLst>
              </p:cNvPr>
              <p:cNvSpPr txBox="1"/>
              <p:nvPr/>
            </p:nvSpPr>
            <p:spPr>
              <a:xfrm>
                <a:off x="527384" y="1117759"/>
                <a:ext cx="8820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altLang="ko-KR" dirty="0"/>
                  <a:t>An improvement over LDA. Considering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and its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. (Semi-local)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312F30-D047-79BD-D792-E77F921DF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4" y="1117759"/>
                <a:ext cx="8820492" cy="369332"/>
              </a:xfrm>
              <a:prstGeom prst="rect">
                <a:avLst/>
              </a:prstGeom>
              <a:blipFill>
                <a:blip r:embed="rId2"/>
                <a:stretch>
                  <a:fillRect l="-432" t="-6452" b="-2258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B1C623-C5D6-126D-5B45-9ED72A6AF12F}"/>
                  </a:ext>
                </a:extLst>
              </p:cNvPr>
              <p:cNvSpPr txBox="1"/>
              <p:nvPr/>
            </p:nvSpPr>
            <p:spPr>
              <a:xfrm>
                <a:off x="527383" y="1487091"/>
                <a:ext cx="4526880" cy="96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𝑥𝑐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𝐺𝐺𝐴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nary>
                    </m:oMath>
                  </m:oMathPara>
                </a14:m>
                <a:endParaRPr lang="en-KR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B1C623-C5D6-126D-5B45-9ED72A6AF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3" y="1487091"/>
                <a:ext cx="4526880" cy="968598"/>
              </a:xfrm>
              <a:prstGeom prst="rect">
                <a:avLst/>
              </a:prstGeom>
              <a:blipFill>
                <a:blip r:embed="rId3"/>
                <a:stretch>
                  <a:fillRect l="-840" t="-158442" r="-560" b="-21688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2DC854D-97D6-ABAE-5B35-749A35D0B8C2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25707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AD7BC-B8C5-97FE-702D-1BD1B9D8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EC04-924D-9553-2F2D-A8F57EA42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Generalized Grandient Approximation (GGA)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850455-791C-CB9F-66B7-A34D29830EBA}"/>
                  </a:ext>
                </a:extLst>
              </p:cNvPr>
              <p:cNvSpPr txBox="1"/>
              <p:nvPr/>
            </p:nvSpPr>
            <p:spPr>
              <a:xfrm>
                <a:off x="527384" y="1117759"/>
                <a:ext cx="88204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altLang="ko-KR" dirty="0"/>
                  <a:t>An improvement over LDA. Considering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and its 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. (Semi-local)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850455-791C-CB9F-66B7-A34D29830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4" y="1117759"/>
                <a:ext cx="8820492" cy="369332"/>
              </a:xfrm>
              <a:prstGeom prst="rect">
                <a:avLst/>
              </a:prstGeom>
              <a:blipFill>
                <a:blip r:embed="rId2"/>
                <a:stretch>
                  <a:fillRect l="-432" t="-6452" b="-2258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F58BD7-A789-F73A-0420-8491E1172667}"/>
                  </a:ext>
                </a:extLst>
              </p:cNvPr>
              <p:cNvSpPr txBox="1"/>
              <p:nvPr/>
            </p:nvSpPr>
            <p:spPr>
              <a:xfrm>
                <a:off x="527383" y="1487091"/>
                <a:ext cx="4526880" cy="96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𝑥𝑐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𝐺𝐺𝐴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nary>
                    </m:oMath>
                  </m:oMathPara>
                </a14:m>
                <a:endParaRPr lang="en-KR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F58BD7-A789-F73A-0420-8491E1172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3" y="1487091"/>
                <a:ext cx="4526880" cy="968598"/>
              </a:xfrm>
              <a:prstGeom prst="rect">
                <a:avLst/>
              </a:prstGeom>
              <a:blipFill>
                <a:blip r:embed="rId3"/>
                <a:stretch>
                  <a:fillRect l="-840" t="-158442" r="-560" b="-21688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 descr="Jacob’s ladder approach for the systematic improvement of DFT functionals according to the metaphor of Perdew and Schmidt,[55] showing some of the most common functionals within each rung. ">
            <a:extLst>
              <a:ext uri="{FF2B5EF4-FFF2-40B4-BE49-F238E27FC236}">
                <a16:creationId xmlns:a16="http://schemas.microsoft.com/office/drawing/2014/main" id="{A77DC800-FE29-0694-E28E-C7B8993FC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245" y="2557228"/>
            <a:ext cx="7007510" cy="429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2E2B7D-95A8-CC57-45CB-0E4C5C984FE5}"/>
              </a:ext>
            </a:extLst>
          </p:cNvPr>
          <p:cNvSpPr txBox="1"/>
          <p:nvPr/>
        </p:nvSpPr>
        <p:spPr>
          <a:xfrm>
            <a:off x="4756492" y="2187896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Beyond the GGA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98E6EC-EB34-6BAB-F9F4-C5EBD69FA3A6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68017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946B-DAE4-E6D6-0A42-93737E9FB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Hybrid functional</a:t>
            </a:r>
            <a:endParaRPr lang="en-K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09B6B-9F68-57FF-C304-A32C2EB659C1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EB7D57-7E7C-C904-4449-1C8FC5A0AAAB}"/>
                  </a:ext>
                </a:extLst>
              </p:cNvPr>
              <p:cNvSpPr txBox="1"/>
              <p:nvPr/>
            </p:nvSpPr>
            <p:spPr>
              <a:xfrm>
                <a:off x="527383" y="2417181"/>
                <a:ext cx="4689682" cy="370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𝑥𝑐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𝐻𝐹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𝐻𝐹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𝐺𝐺𝐴</m:t>
                        </m:r>
                      </m:sup>
                    </m:sSubSup>
                  </m:oMath>
                </a14:m>
                <a:r>
                  <a:rPr lang="en-KR" sz="2400" dirty="0"/>
                  <a:t>+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𝐺𝐺𝐴</m:t>
                        </m:r>
                      </m:sup>
                    </m:sSubSup>
                  </m:oMath>
                </a14:m>
                <a:endParaRPr lang="en-KR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EB7D57-7E7C-C904-4449-1C8FC5A0A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3" y="2417181"/>
                <a:ext cx="4689682" cy="370551"/>
              </a:xfrm>
              <a:prstGeom prst="rect">
                <a:avLst/>
              </a:prstGeom>
              <a:blipFill>
                <a:blip r:embed="rId2"/>
                <a:stretch>
                  <a:fillRect l="-2162" t="-26667" r="-270" b="-4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A354F8D-9D0A-DB7A-46DF-FB5BE1D543BE}"/>
              </a:ext>
            </a:extLst>
          </p:cNvPr>
          <p:cNvSpPr txBox="1"/>
          <p:nvPr/>
        </p:nvSpPr>
        <p:spPr>
          <a:xfrm>
            <a:off x="527383" y="1701986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Unscreened hybrid functionals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5D57E-2032-C5B8-B860-82086BE6C4AB}"/>
              </a:ext>
            </a:extLst>
          </p:cNvPr>
          <p:cNvSpPr txBox="1"/>
          <p:nvPr/>
        </p:nvSpPr>
        <p:spPr>
          <a:xfrm>
            <a:off x="527384" y="1117759"/>
            <a:ext cx="9360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ko-KR" dirty="0"/>
              <a:t>The exchange component consists of a mixing of GGA and Hartree-Fock exchange: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92B1A-A8D5-ED45-437B-9DC78DD244E2}"/>
              </a:ext>
            </a:extLst>
          </p:cNvPr>
          <p:cNvSpPr txBox="1"/>
          <p:nvPr/>
        </p:nvSpPr>
        <p:spPr>
          <a:xfrm>
            <a:off x="527383" y="3244334"/>
            <a:ext cx="3826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Range-separated </a:t>
            </a:r>
            <a:r>
              <a:rPr lang="en-KR" dirty="0"/>
              <a:t>hybrid functionals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5B80A3-5CA6-6C11-1F4A-F2FEA91D76E1}"/>
                  </a:ext>
                </a:extLst>
              </p:cNvPr>
              <p:cNvSpPr txBox="1"/>
              <p:nvPr/>
            </p:nvSpPr>
            <p:spPr>
              <a:xfrm>
                <a:off x="527383" y="4070268"/>
                <a:ext cx="7905947" cy="4054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𝑥𝑐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𝐻𝐹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𝐻𝐹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𝑆𝑅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𝐺𝐺𝐴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𝑆𝑅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𝐺𝐺𝐴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𝐿𝑅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)+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𝐺𝐺𝐴</m:t>
                        </m:r>
                      </m:sup>
                    </m:sSubSup>
                  </m:oMath>
                </a14:m>
                <a:endParaRPr lang="en-KR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5B80A3-5CA6-6C11-1F4A-F2FEA91D7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3" y="4070268"/>
                <a:ext cx="7905947" cy="405432"/>
              </a:xfrm>
              <a:prstGeom prst="rect">
                <a:avLst/>
              </a:prstGeom>
              <a:blipFill>
                <a:blip r:embed="rId3"/>
                <a:stretch>
                  <a:fillRect l="-1284" t="-15152" b="-4242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8A21D8-AD88-E1A7-99D9-33BF9827BC16}"/>
                  </a:ext>
                </a:extLst>
              </p:cNvPr>
              <p:cNvSpPr txBox="1"/>
              <p:nvPr/>
            </p:nvSpPr>
            <p:spPr>
              <a:xfrm>
                <a:off x="527382" y="4965477"/>
                <a:ext cx="7147278" cy="522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𝑥𝑐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𝐻𝑆𝐸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𝐻𝐹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𝑆𝑅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𝑃𝐵𝐸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𝑆𝑅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2400" dirty="0"/>
                  <a:t>+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𝑃𝐵𝐸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𝐿𝑅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)+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𝑃𝐵𝐸</m:t>
                        </m:r>
                      </m:sup>
                    </m:sSubSup>
                  </m:oMath>
                </a14:m>
                <a:endParaRPr lang="en-KR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8A21D8-AD88-E1A7-99D9-33BF9827B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2" y="4965477"/>
                <a:ext cx="7147278" cy="522322"/>
              </a:xfrm>
              <a:prstGeom prst="rect">
                <a:avLst/>
              </a:prstGeom>
              <a:blipFill>
                <a:blip r:embed="rId4"/>
                <a:stretch>
                  <a:fillRect l="-1418" t="-4762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B81FA8-1EE8-11B2-9B8A-38FCE2E88C42}"/>
                  </a:ext>
                </a:extLst>
              </p:cNvPr>
              <p:cNvSpPr txBox="1"/>
              <p:nvPr/>
            </p:nvSpPr>
            <p:spPr>
              <a:xfrm>
                <a:off x="527382" y="5883000"/>
                <a:ext cx="2322815" cy="383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dirty="0"/>
                  <a:t>HSE06: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=0.2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Å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KR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B81FA8-1EE8-11B2-9B8A-38FCE2E88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2" y="5883000"/>
                <a:ext cx="2322815" cy="383118"/>
              </a:xfrm>
              <a:prstGeom prst="rect">
                <a:avLst/>
              </a:prstGeom>
              <a:blipFill>
                <a:blip r:embed="rId5"/>
                <a:stretch>
                  <a:fillRect l="-2174" t="-3226" b="-2580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75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F0B5E-E2AB-94AA-6C03-6ED8E85CFF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Hybrid functional</a:t>
            </a:r>
            <a:r>
              <a:rPr lang="ko-KR" altLang="en-US" dirty="0"/>
              <a:t> </a:t>
            </a:r>
            <a:r>
              <a:rPr lang="en-US" altLang="ko-KR" dirty="0"/>
              <a:t>related input variables</a:t>
            </a:r>
            <a:endParaRPr lang="en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B2C798-7142-3F79-6BA9-8BC9AE446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82" y="1056747"/>
            <a:ext cx="10330998" cy="18085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D54B13-F80E-D758-8421-09AE8A499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82" y="4975132"/>
            <a:ext cx="10330999" cy="188286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A59ADC-A993-D355-17D6-0AF86EB230EE}"/>
              </a:ext>
            </a:extLst>
          </p:cNvPr>
          <p:cNvCxnSpPr/>
          <p:nvPr/>
        </p:nvCxnSpPr>
        <p:spPr>
          <a:xfrm>
            <a:off x="1540511" y="2154434"/>
            <a:ext cx="18047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896F52B-AB79-B6F6-EA21-61BB1AE0D266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C69465-BEC3-B928-8F9F-08A31C301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851" y="2934064"/>
            <a:ext cx="6404476" cy="197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2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CADD-1469-EF49-3966-416EB45E1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37BA-B575-1479-DF02-AD3C9D049E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DFT+U</a:t>
            </a:r>
            <a:endParaRPr lang="en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00A689-93D8-B1C2-9D11-21B337E67962}"/>
              </a:ext>
            </a:extLst>
          </p:cNvPr>
          <p:cNvSpPr txBox="1"/>
          <p:nvPr/>
        </p:nvSpPr>
        <p:spPr>
          <a:xfrm>
            <a:off x="993603" y="2590529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Hubbard Hamiltonian:</a:t>
            </a:r>
            <a:endParaRPr lang="en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CC261-0ADE-8BB9-9FEB-DB377327CF92}"/>
              </a:ext>
            </a:extLst>
          </p:cNvPr>
          <p:cNvSpPr txBox="1"/>
          <p:nvPr/>
        </p:nvSpPr>
        <p:spPr>
          <a:xfrm>
            <a:off x="993603" y="3706417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On-site</a:t>
            </a:r>
            <a:r>
              <a:rPr lang="en-US" i="1" dirty="0"/>
              <a:t> U</a:t>
            </a:r>
            <a:r>
              <a:rPr lang="en-US" dirty="0"/>
              <a:t> correction:</a:t>
            </a:r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B3365-D5BC-B9C6-F5D4-A4D30422F1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41" t="9626" b="52153"/>
          <a:stretch/>
        </p:blipFill>
        <p:spPr>
          <a:xfrm>
            <a:off x="4791056" y="2591440"/>
            <a:ext cx="6422307" cy="8376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82E312-B61E-2D50-700C-340D3C9127AD}"/>
              </a:ext>
            </a:extLst>
          </p:cNvPr>
          <p:cNvSpPr txBox="1"/>
          <p:nvPr/>
        </p:nvSpPr>
        <p:spPr>
          <a:xfrm>
            <a:off x="1096726" y="4582044"/>
            <a:ext cx="1029653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ko-KR" dirty="0"/>
              <a:t>Empirical to fit experiments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dirty="0"/>
              <a:t>Linear response theory</a:t>
            </a:r>
            <a:r>
              <a:rPr lang="ko-KR" altLang="en-US" dirty="0"/>
              <a:t> </a:t>
            </a:r>
            <a:r>
              <a:rPr lang="en-US" altLang="ko-KR" dirty="0"/>
              <a:t>[M. </a:t>
            </a:r>
            <a:r>
              <a:rPr lang="en-US" altLang="ko-KR" dirty="0" err="1"/>
              <a:t>Cococcioni</a:t>
            </a:r>
            <a:r>
              <a:rPr lang="en-US" altLang="ko-KR" dirty="0"/>
              <a:t>, </a:t>
            </a:r>
            <a:r>
              <a:rPr lang="en-US" altLang="ko-KR" i="1" dirty="0"/>
              <a:t>et al.</a:t>
            </a:r>
            <a:r>
              <a:rPr lang="en-US" altLang="ko-KR" dirty="0"/>
              <a:t>, Phys Rev B </a:t>
            </a:r>
            <a:r>
              <a:rPr lang="en-US" altLang="ko-KR" b="1" dirty="0"/>
              <a:t>71</a:t>
            </a:r>
            <a:r>
              <a:rPr lang="en-US" altLang="ko-KR" dirty="0"/>
              <a:t>, 035105 (2005)]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dirty="0"/>
              <a:t>Constraint random phase approximation [F. </a:t>
            </a:r>
            <a:r>
              <a:rPr lang="en-US" altLang="ko-KR" dirty="0" err="1"/>
              <a:t>Aryasetiawan</a:t>
            </a:r>
            <a:r>
              <a:rPr lang="en-US" altLang="ko-KR" dirty="0"/>
              <a:t>, et al., Phys Rev B </a:t>
            </a:r>
            <a:r>
              <a:rPr lang="en-US" altLang="ko-KR" b="1" dirty="0"/>
              <a:t>70</a:t>
            </a:r>
            <a:r>
              <a:rPr lang="en-US" altLang="ko-KR" dirty="0"/>
              <a:t>, 195104 (2004)]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dirty="0"/>
              <a:t>Hartree-</a:t>
            </a:r>
            <a:r>
              <a:rPr lang="en-US" altLang="ko-KR" dirty="0" err="1"/>
              <a:t>Fock</a:t>
            </a:r>
            <a:r>
              <a:rPr lang="en-US" altLang="ko-KR" dirty="0"/>
              <a:t>-based formalism [</a:t>
            </a:r>
            <a:r>
              <a:rPr lang="en-US" altLang="ko-KR" sz="1800" dirty="0"/>
              <a:t>L. A. Agapito, </a:t>
            </a:r>
            <a:r>
              <a:rPr lang="en-US" altLang="ko-KR" sz="1800" i="1" dirty="0"/>
              <a:t>et al</a:t>
            </a:r>
            <a:r>
              <a:rPr lang="en-US" altLang="ko-KR" sz="1800" dirty="0"/>
              <a:t>., Phys. Rev. X </a:t>
            </a:r>
            <a:r>
              <a:rPr lang="en-US" altLang="ko-KR" sz="1800" b="1" dirty="0"/>
              <a:t>5</a:t>
            </a:r>
            <a:r>
              <a:rPr lang="en-US" altLang="ko-KR" sz="1800" dirty="0"/>
              <a:t>, 011006 (2015)]</a:t>
            </a:r>
            <a:endParaRPr lang="en-US" altLang="ko-K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61611D-802E-9451-F242-18710334B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510" y="3429000"/>
            <a:ext cx="7327426" cy="1058278"/>
          </a:xfrm>
          <a:prstGeom prst="rect">
            <a:avLst/>
          </a:prstGeom>
        </p:spPr>
      </p:pic>
      <p:pic>
        <p:nvPicPr>
          <p:cNvPr id="10" name="그림 6">
            <a:extLst>
              <a:ext uri="{FF2B5EF4-FFF2-40B4-BE49-F238E27FC236}">
                <a16:creationId xmlns:a16="http://schemas.microsoft.com/office/drawing/2014/main" id="{A706DA07-8FC3-B316-2778-4F9337BE9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438" y="1081624"/>
            <a:ext cx="5059580" cy="136258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AED064-D32A-B11E-0657-CD952462AB5F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1</a:t>
            </a:r>
            <a:r>
              <a:rPr lang="en-US" altLang="ko-KR" dirty="0"/>
              <a:t>1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016600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0405-B375-5BFA-E984-B171E9EF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DFT+U related input variables in official QE</a:t>
            </a:r>
            <a:endParaRPr lang="en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40E4DD-8FB4-C4C4-AFAA-331BD61C6143}"/>
              </a:ext>
            </a:extLst>
          </p:cNvPr>
          <p:cNvSpPr txBox="1"/>
          <p:nvPr/>
        </p:nvSpPr>
        <p:spPr>
          <a:xfrm>
            <a:off x="617975" y="1072964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Within input file,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0FCB3C-C464-241A-73AD-7A6C6219E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957" y="1072964"/>
            <a:ext cx="5967351" cy="56230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FD4A18-C101-5CA5-0E0B-DB422B4BB2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204"/>
          <a:stretch/>
        </p:blipFill>
        <p:spPr>
          <a:xfrm>
            <a:off x="617975" y="1533496"/>
            <a:ext cx="2807608" cy="1323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2ECCB5-4F94-3414-036F-9D7F4785999B}"/>
              </a:ext>
            </a:extLst>
          </p:cNvPr>
          <p:cNvSpPr txBox="1"/>
          <p:nvPr/>
        </p:nvSpPr>
        <p:spPr>
          <a:xfrm>
            <a:off x="263692" y="3289869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Atom species-Manifold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93458-49BB-D1FF-4AAF-8ED4B406CE16}"/>
              </a:ext>
            </a:extLst>
          </p:cNvPr>
          <p:cNvSpPr txBox="1"/>
          <p:nvPr/>
        </p:nvSpPr>
        <p:spPr>
          <a:xfrm>
            <a:off x="2094576" y="2965353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Parameter value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1C5FBA-885C-75D9-32F8-50E38F64B928}"/>
              </a:ext>
            </a:extLst>
          </p:cNvPr>
          <p:cNvCxnSpPr>
            <a:cxnSpLocks/>
          </p:cNvCxnSpPr>
          <p:nvPr/>
        </p:nvCxnSpPr>
        <p:spPr>
          <a:xfrm>
            <a:off x="1218748" y="2861939"/>
            <a:ext cx="950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1326AB-7501-FD75-BD9F-21640E78800C}"/>
              </a:ext>
            </a:extLst>
          </p:cNvPr>
          <p:cNvCxnSpPr>
            <a:cxnSpLocks/>
          </p:cNvCxnSpPr>
          <p:nvPr/>
        </p:nvCxnSpPr>
        <p:spPr>
          <a:xfrm>
            <a:off x="2431292" y="2861154"/>
            <a:ext cx="950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ight Arrow 15">
            <a:extLst>
              <a:ext uri="{FF2B5EF4-FFF2-40B4-BE49-F238E27FC236}">
                <a16:creationId xmlns:a16="http://schemas.microsoft.com/office/drawing/2014/main" id="{88653B33-C55E-2B3F-76B2-B8F5AE08BD78}"/>
              </a:ext>
            </a:extLst>
          </p:cNvPr>
          <p:cNvSpPr/>
          <p:nvPr/>
        </p:nvSpPr>
        <p:spPr>
          <a:xfrm rot="5400000">
            <a:off x="1370362" y="2951907"/>
            <a:ext cx="465787" cy="299761"/>
          </a:xfrm>
          <a:prstGeom prst="rightArrow">
            <a:avLst>
              <a:gd name="adj1" fmla="val 25825"/>
              <a:gd name="adj2" fmla="val 434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3182AE-4DA6-8A8B-8718-BDE9ECB9FC7F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1</a:t>
            </a:r>
            <a:r>
              <a:rPr lang="en-US" altLang="ko-KR" dirty="0"/>
              <a:t>2</a:t>
            </a:r>
            <a:endParaRPr lang="en-KR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D2C05D78-104B-6FC3-610D-FCA16570C438}"/>
              </a:ext>
            </a:extLst>
          </p:cNvPr>
          <p:cNvSpPr/>
          <p:nvPr/>
        </p:nvSpPr>
        <p:spPr>
          <a:xfrm rot="21297770">
            <a:off x="3782671" y="1273247"/>
            <a:ext cx="1621829" cy="299761"/>
          </a:xfrm>
          <a:prstGeom prst="rightArrow">
            <a:avLst>
              <a:gd name="adj1" fmla="val 25825"/>
              <a:gd name="adj2" fmla="val 434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61457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78037-3582-238B-67F9-F5792058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C6CE-5F8D-185C-E79C-34C5BDD0A1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DFT+U(+V) related input variables in official QE</a:t>
            </a:r>
            <a:endParaRPr lang="en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53316-E403-8A0A-50AA-39AEC879F07B}"/>
              </a:ext>
            </a:extLst>
          </p:cNvPr>
          <p:cNvSpPr txBox="1"/>
          <p:nvPr/>
        </p:nvSpPr>
        <p:spPr>
          <a:xfrm>
            <a:off x="617975" y="1072964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Within input file,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70210-C760-63C9-9778-FA1067AE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957" y="1072964"/>
            <a:ext cx="5967351" cy="56230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07E42F-350D-8410-2E88-60F1B7C6B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204"/>
          <a:stretch/>
        </p:blipFill>
        <p:spPr>
          <a:xfrm>
            <a:off x="617975" y="1533496"/>
            <a:ext cx="2807608" cy="1323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4FB843-CAF9-1AD0-750B-C71841F05641}"/>
              </a:ext>
            </a:extLst>
          </p:cNvPr>
          <p:cNvSpPr txBox="1"/>
          <p:nvPr/>
        </p:nvSpPr>
        <p:spPr>
          <a:xfrm>
            <a:off x="263692" y="3289869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Atom species-Manifold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1947A-D4DC-D078-8F0E-92E16B2511D7}"/>
              </a:ext>
            </a:extLst>
          </p:cNvPr>
          <p:cNvSpPr txBox="1"/>
          <p:nvPr/>
        </p:nvSpPr>
        <p:spPr>
          <a:xfrm>
            <a:off x="2094576" y="2965353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Parameter value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879689-366F-DB88-3BF4-64D6528609C4}"/>
              </a:ext>
            </a:extLst>
          </p:cNvPr>
          <p:cNvCxnSpPr>
            <a:cxnSpLocks/>
          </p:cNvCxnSpPr>
          <p:nvPr/>
        </p:nvCxnSpPr>
        <p:spPr>
          <a:xfrm>
            <a:off x="1218748" y="2861939"/>
            <a:ext cx="950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D08522-277C-AA98-E62D-19377158F527}"/>
              </a:ext>
            </a:extLst>
          </p:cNvPr>
          <p:cNvCxnSpPr>
            <a:cxnSpLocks/>
          </p:cNvCxnSpPr>
          <p:nvPr/>
        </p:nvCxnSpPr>
        <p:spPr>
          <a:xfrm>
            <a:off x="2431292" y="2861154"/>
            <a:ext cx="950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ight Arrow 15">
            <a:extLst>
              <a:ext uri="{FF2B5EF4-FFF2-40B4-BE49-F238E27FC236}">
                <a16:creationId xmlns:a16="http://schemas.microsoft.com/office/drawing/2014/main" id="{3736BAC0-E874-F944-5871-7EFE1D6E5EDA}"/>
              </a:ext>
            </a:extLst>
          </p:cNvPr>
          <p:cNvSpPr/>
          <p:nvPr/>
        </p:nvSpPr>
        <p:spPr>
          <a:xfrm rot="5400000">
            <a:off x="1370362" y="2951907"/>
            <a:ext cx="465787" cy="299761"/>
          </a:xfrm>
          <a:prstGeom prst="rightArrow">
            <a:avLst>
              <a:gd name="adj1" fmla="val 25825"/>
              <a:gd name="adj2" fmla="val 434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A4339B-4A18-C712-3D55-A4A44C94A4A6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1</a:t>
            </a:r>
            <a:r>
              <a:rPr lang="en-US" altLang="ko-KR" dirty="0"/>
              <a:t>2</a:t>
            </a:r>
            <a:endParaRPr lang="en-KR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62682382-2DCF-DD46-2C10-62F84FF31C5A}"/>
              </a:ext>
            </a:extLst>
          </p:cNvPr>
          <p:cNvSpPr/>
          <p:nvPr/>
        </p:nvSpPr>
        <p:spPr>
          <a:xfrm rot="21297770">
            <a:off x="3782671" y="1273247"/>
            <a:ext cx="1621829" cy="299761"/>
          </a:xfrm>
          <a:prstGeom prst="rightArrow">
            <a:avLst>
              <a:gd name="adj1" fmla="val 25825"/>
              <a:gd name="adj2" fmla="val 434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3B7CED-C1F8-8665-1858-8FC10AE4C3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493"/>
          <a:stretch/>
        </p:blipFill>
        <p:spPr>
          <a:xfrm>
            <a:off x="617975" y="3831599"/>
            <a:ext cx="4945166" cy="274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21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98F0-1455-5C16-DE12-A886DC8893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DFT+U(+V) related input variables for eACBN0</a:t>
            </a:r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C68A79-798B-D9AF-DE35-C28655C31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83" y="1094278"/>
            <a:ext cx="9114755" cy="1181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B2E8B6-ADA5-00A2-5B67-A09516041FD6}"/>
              </a:ext>
            </a:extLst>
          </p:cNvPr>
          <p:cNvSpPr txBox="1"/>
          <p:nvPr/>
        </p:nvSpPr>
        <p:spPr>
          <a:xfrm>
            <a:off x="527383" y="2587742"/>
            <a:ext cx="398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lda_plus_v = .true. (default: .false.)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AD68C-5621-7DF6-61E1-6E984B39073A}"/>
              </a:ext>
            </a:extLst>
          </p:cNvPr>
          <p:cNvSpPr txBox="1"/>
          <p:nvPr/>
        </p:nvSpPr>
        <p:spPr>
          <a:xfrm>
            <a:off x="527383" y="4247244"/>
            <a:ext cx="5295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ehub_nn_distance = 2.4 (default: 3.0 angstrom)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B60E8-C9E4-E62D-5A34-2A8C12CE0B0C}"/>
              </a:ext>
            </a:extLst>
          </p:cNvPr>
          <p:cNvSpPr txBox="1"/>
          <p:nvPr/>
        </p:nvSpPr>
        <p:spPr>
          <a:xfrm>
            <a:off x="790617" y="2957074"/>
            <a:ext cx="637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Specify ‘lda_plus_v = .true.’ to enable DFT+</a:t>
            </a:r>
            <a:r>
              <a:rPr lang="en-KR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KR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 calculaitons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E9678-4F56-E58E-0B79-8C496521F630}"/>
              </a:ext>
            </a:extLst>
          </p:cNvPr>
          <p:cNvSpPr txBox="1"/>
          <p:nvPr/>
        </p:nvSpPr>
        <p:spPr>
          <a:xfrm>
            <a:off x="790618" y="4640554"/>
            <a:ext cx="6507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Specify a cut-off inter-atomic disance </a:t>
            </a:r>
            <a:r>
              <a:rPr lang="en-KR" i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KR" baseline="-25000" dirty="0"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 defined in our paper. </a:t>
            </a:r>
          </a:p>
          <a:p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(S. Lee and Y-W. Son, Phys. Rev. Res. </a:t>
            </a:r>
            <a:r>
              <a:rPr lang="en-K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K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043410 (2020))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0AAAC-EF79-5666-E8DC-BDABF0DF77B1}"/>
              </a:ext>
            </a:extLst>
          </p:cNvPr>
          <p:cNvSpPr txBox="1"/>
          <p:nvPr/>
        </p:nvSpPr>
        <p:spPr>
          <a:xfrm>
            <a:off x="790617" y="3751050"/>
            <a:ext cx="10444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1: original ACBN0 (for </a:t>
            </a:r>
            <a:r>
              <a:rPr lang="en-KR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 only), 2: extended ACBN0 (for </a:t>
            </a:r>
            <a:r>
              <a:rPr lang="en-KR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KR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065D0-EAA8-83FD-D0BD-DEFAAA803953}"/>
              </a:ext>
            </a:extLst>
          </p:cNvPr>
          <p:cNvSpPr txBox="1"/>
          <p:nvPr/>
        </p:nvSpPr>
        <p:spPr>
          <a:xfrm>
            <a:off x="527383" y="3381718"/>
            <a:ext cx="319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acbn0_type = 2 (default: 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7E3DF1-3D83-28D9-6AB8-1652F6E02EDC}"/>
              </a:ext>
            </a:extLst>
          </p:cNvPr>
          <p:cNvSpPr txBox="1"/>
          <p:nvPr/>
        </p:nvSpPr>
        <p:spPr>
          <a:xfrm>
            <a:off x="527383" y="5349585"/>
            <a:ext cx="4653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ehub_conv_thr = 1.0D-8 (default: 1.0D-8)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EE9CE-9C5A-613D-4764-A2C23B279D81}"/>
              </a:ext>
            </a:extLst>
          </p:cNvPr>
          <p:cNvSpPr txBox="1"/>
          <p:nvPr/>
        </p:nvSpPr>
        <p:spPr>
          <a:xfrm>
            <a:off x="790617" y="5718917"/>
            <a:ext cx="10444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highlight>
                  <a:srgbClr val="FFFFFF"/>
                </a:highlight>
                <a:latin typeface="ArialMT"/>
              </a:rPr>
              <a:t>Convergence threshold on Hubbard energy </a:t>
            </a:r>
            <a:r>
              <a:rPr lang="en-US" sz="1800" i="1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 </a:t>
            </a:r>
            <a:r>
              <a:rPr lang="en-US" sz="1800" dirty="0">
                <a:effectLst/>
                <a:highlight>
                  <a:srgbClr val="FFFFFF"/>
                </a:highlight>
                <a:latin typeface="ArialMT"/>
              </a:rPr>
              <a:t>&amp; </a:t>
            </a:r>
            <a:r>
              <a:rPr lang="en-US" sz="1800" i="1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V </a:t>
            </a:r>
            <a:r>
              <a:rPr lang="en-US" sz="1800" dirty="0">
                <a:effectLst/>
                <a:highlight>
                  <a:srgbClr val="FFFFFF"/>
                </a:highlight>
                <a:latin typeface="ArialMT"/>
              </a:rPr>
              <a:t>(</a:t>
            </a:r>
            <a:r>
              <a:rPr lang="en-US" sz="1800" dirty="0" err="1">
                <a:effectLst/>
                <a:highlight>
                  <a:srgbClr val="FFFFFF"/>
                </a:highlight>
                <a:latin typeface="ArialMT"/>
              </a:rPr>
              <a:t>a.u</a:t>
            </a:r>
            <a:r>
              <a:rPr lang="en-US" sz="1800" dirty="0">
                <a:effectLst/>
                <a:highlight>
                  <a:srgbClr val="FFFFFF"/>
                </a:highlight>
                <a:latin typeface="ArialMT"/>
              </a:rPr>
              <a:t>) for ACBN0 calculation. </a:t>
            </a:r>
            <a:endParaRPr lang="en-US" dirty="0">
              <a:effectLst/>
              <a:highlight>
                <a:srgbClr val="FFFFFF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15C893-B576-62F4-6B22-2CD993A60D1C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168660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748FA-EA63-B71B-BBE3-C1E2B79BB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DFT+U(+V) related input variables for eACBN0</a:t>
            </a:r>
            <a:endParaRPr lang="en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3D91FF-CD1F-AB91-F431-3F82CC540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83" y="1094278"/>
            <a:ext cx="9114755" cy="1181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A9667C-1B87-826C-8CCF-36A4782A38D2}"/>
              </a:ext>
            </a:extLst>
          </p:cNvPr>
          <p:cNvSpPr txBox="1"/>
          <p:nvPr/>
        </p:nvSpPr>
        <p:spPr>
          <a:xfrm>
            <a:off x="527383" y="3303600"/>
            <a:ext cx="369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ehub_mixing = 0.8 (default: 0.7)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95AED5-2359-0E6E-6E2D-9F6D16BBEE3C}"/>
              </a:ext>
            </a:extLst>
          </p:cNvPr>
          <p:cNvSpPr txBox="1"/>
          <p:nvPr/>
        </p:nvSpPr>
        <p:spPr>
          <a:xfrm>
            <a:off x="790617" y="3672932"/>
            <a:ext cx="10444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use a simple linear mixing. [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(1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ehub_mixing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)*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ΔU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old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CF12B-2F0D-9B7B-CFAC-C0539C3646B9}"/>
              </a:ext>
            </a:extLst>
          </p:cNvPr>
          <p:cNvSpPr txBox="1"/>
          <p:nvPr/>
        </p:nvSpPr>
        <p:spPr>
          <a:xfrm>
            <a:off x="527383" y="4071996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ehub_l_choice(</a:t>
            </a:r>
            <a:r>
              <a:rPr lang="en-KR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KR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1 (default: 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A6A98-FA3C-0B11-E9B1-1FD9A9814F9E}"/>
              </a:ext>
            </a:extLst>
          </p:cNvPr>
          <p:cNvSpPr txBox="1"/>
          <p:nvPr/>
        </p:nvSpPr>
        <p:spPr>
          <a:xfrm>
            <a:off x="790617" y="4441328"/>
            <a:ext cx="10444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 type of atom in atomic species card</a:t>
            </a:r>
          </a:p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orbital index (1: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orbital, 2: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orbital, 3: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orbital,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-orbital is not available yet.)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 “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ehub_l_choice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= 1”: DFT+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calculation for the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orbital of and atom with type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9638A-EFEE-5B2F-F517-CE2654942D25}"/>
              </a:ext>
            </a:extLst>
          </p:cNvPr>
          <p:cNvSpPr txBox="1"/>
          <p:nvPr/>
        </p:nvSpPr>
        <p:spPr>
          <a:xfrm>
            <a:off x="527383" y="5394390"/>
            <a:ext cx="4217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remove_ehub_u(</a:t>
            </a:r>
            <a:r>
              <a:rPr lang="en-KR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KR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0, (default: 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700952-AFD7-811E-B2D0-1850A4069D68}"/>
              </a:ext>
            </a:extLst>
          </p:cNvPr>
          <p:cNvSpPr txBox="1"/>
          <p:nvPr/>
        </p:nvSpPr>
        <p:spPr>
          <a:xfrm>
            <a:off x="790617" y="5763722"/>
            <a:ext cx="10444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 “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remove_ehub_u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= 0” 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the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orbital of an atom with type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forced to 0.</a:t>
            </a:r>
            <a:endParaRPr lang="en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CB2DC-1042-9E16-037D-D810EE85DEB4}"/>
              </a:ext>
            </a:extLst>
          </p:cNvPr>
          <p:cNvSpPr txBox="1"/>
          <p:nvPr/>
        </p:nvSpPr>
        <p:spPr>
          <a:xfrm>
            <a:off x="527383" y="2486132"/>
            <a:ext cx="356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5.lacbn0 = .true. (default: .false.)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202DC9-B68E-2209-79F0-CBFBE2BAFA49}"/>
              </a:ext>
            </a:extLst>
          </p:cNvPr>
          <p:cNvSpPr txBox="1"/>
          <p:nvPr/>
        </p:nvSpPr>
        <p:spPr>
          <a:xfrm>
            <a:off x="790617" y="2855464"/>
            <a:ext cx="9838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Arial" panose="020B0604020202020204" pitchFamily="34" charset="0"/>
                <a:cs typeface="Arial" panose="020B0604020202020204" pitchFamily="34" charset="0"/>
              </a:rPr>
              <a:t>Specify ‘lacbn0 = .true.’ to calculate eACBN0 energy for self-consistent Hubbard parameters.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30413B-5240-2B2B-B0CE-36FEA2175507}"/>
              </a:ext>
            </a:extLst>
          </p:cNvPr>
          <p:cNvSpPr/>
          <p:nvPr/>
        </p:nvSpPr>
        <p:spPr>
          <a:xfrm>
            <a:off x="11664617" y="0"/>
            <a:ext cx="527383" cy="3850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KR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950365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DF5EB-387A-AC97-B17D-9E63A43E0E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Code availability for eACBN0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71052-20CC-2DAB-CC77-1017E8D08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7" y="1742553"/>
            <a:ext cx="7772400" cy="4758868"/>
          </a:xfrm>
          <a:prstGeom prst="rect">
            <a:avLst/>
          </a:prstGeom>
        </p:spPr>
      </p:pic>
      <p:pic>
        <p:nvPicPr>
          <p:cNvPr id="6" name="Picture 5" descr="A qr code with green border&#10;&#10;AI-generated content may be incorrect.">
            <a:extLst>
              <a:ext uri="{FF2B5EF4-FFF2-40B4-BE49-F238E27FC236}">
                <a16:creationId xmlns:a16="http://schemas.microsoft.com/office/drawing/2014/main" id="{3B3B8398-56C6-9D9F-0FB3-CA8634A1C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4" y="2351165"/>
            <a:ext cx="3541644" cy="3541644"/>
          </a:xfrm>
          <a:prstGeom prst="rect">
            <a:avLst/>
          </a:prstGeom>
        </p:spPr>
      </p:pic>
      <p:sp>
        <p:nvSpPr>
          <p:cNvPr id="7" name="모서리가 둥근 직사각형 4">
            <a:extLst>
              <a:ext uri="{FF2B5EF4-FFF2-40B4-BE49-F238E27FC236}">
                <a16:creationId xmlns:a16="http://schemas.microsoft.com/office/drawing/2014/main" id="{2FA1E5C5-DD4B-E261-5D65-50A8E3BDBFA5}"/>
              </a:ext>
            </a:extLst>
          </p:cNvPr>
          <p:cNvSpPr/>
          <p:nvPr/>
        </p:nvSpPr>
        <p:spPr>
          <a:xfrm>
            <a:off x="527383" y="1130777"/>
            <a:ext cx="9537700" cy="4477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ysClr val="windowText" lastClr="000000"/>
                </a:solidFill>
              </a:rPr>
              <a:t>Patch file is accessible via </a:t>
            </a:r>
            <a:r>
              <a:rPr lang="en-US" altLang="ko-KR" sz="2000" dirty="0" err="1">
                <a:solidFill>
                  <a:sysClr val="windowText" lastClr="000000"/>
                </a:solidFill>
              </a:rPr>
              <a:t>github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 (https://</a:t>
            </a:r>
            <a:r>
              <a:rPr lang="en-US" altLang="ko-KR" sz="2000" dirty="0" err="1">
                <a:solidFill>
                  <a:sysClr val="windowText" lastClr="000000"/>
                </a:solidFill>
              </a:rPr>
              <a:t>github.com</a:t>
            </a:r>
            <a:r>
              <a:rPr lang="en-US" altLang="ko-KR" sz="2000" dirty="0">
                <a:solidFill>
                  <a:sysClr val="windowText" lastClr="000000"/>
                </a:solidFill>
              </a:rPr>
              <a:t>/KIAS-CMT/DFT-U-V).</a:t>
            </a:r>
            <a:endParaRPr lang="ko-KR" alt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4CD8D-C2BD-CDB8-9297-EDB05CEA134A}"/>
              </a:ext>
            </a:extLst>
          </p:cNvPr>
          <p:cNvSpPr txBox="1"/>
          <p:nvPr/>
        </p:nvSpPr>
        <p:spPr>
          <a:xfrm>
            <a:off x="8494644" y="1862193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88809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595959"/>
      </a:folHlink>
    </a:clrScheme>
    <a:fontScheme name="사용자 지정 1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8092</TotalTime>
  <Words>1399</Words>
  <Application>Microsoft Macintosh PowerPoint</Application>
  <PresentationFormat>Widescreen</PresentationFormat>
  <Paragraphs>157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ArialMT</vt:lpstr>
      <vt:lpstr>Wingdings</vt:lpstr>
      <vt:lpstr>나눔고딕</vt:lpstr>
      <vt:lpstr>맑은 고딕</vt:lpstr>
      <vt:lpstr>Cambria Math</vt:lpstr>
      <vt:lpstr>돋움</vt:lpstr>
      <vt:lpstr>Office 테마</vt:lpstr>
      <vt:lpstr>Exchange-correlation functionals and corrections in QE </vt:lpstr>
      <vt:lpstr>Goal</vt:lpstr>
      <vt:lpstr>Recap: Inaccuracy of Density functional theory</vt:lpstr>
      <vt:lpstr>Recap: Quantitative errors in DFT-LDA and DFT-GGA </vt:lpstr>
      <vt:lpstr>Recap: Qualitative errors in DFT-LDA and DFT-GGA </vt:lpstr>
      <vt:lpstr>Various method for correction</vt:lpstr>
      <vt:lpstr>Various method for correction</vt:lpstr>
      <vt:lpstr>Local Density Approximation (LDA)</vt:lpstr>
      <vt:lpstr>Generalized Grandient Approximation (GGA)</vt:lpstr>
      <vt:lpstr>Generalized Grandient Approximation (GGA)</vt:lpstr>
      <vt:lpstr>Hybrid functional</vt:lpstr>
      <vt:lpstr>Hybrid functional related input variables</vt:lpstr>
      <vt:lpstr>DFT+U</vt:lpstr>
      <vt:lpstr>DFT+U related input variables in official QE</vt:lpstr>
      <vt:lpstr>DFT+U(+V) related input variables in official QE</vt:lpstr>
      <vt:lpstr>DFT+U(+V) related input variables for eACBN0</vt:lpstr>
      <vt:lpstr>DFT+U(+V) related input variables for eACBN0</vt:lpstr>
      <vt:lpstr>Code availability for eACBN0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문서의 제목  나눔명조R, 40pt</dc:title>
  <dc:creator>네이버 한글캠페인</dc:creator>
  <cp:lastModifiedBy>Son, Young-Woo</cp:lastModifiedBy>
  <cp:revision>48</cp:revision>
  <cp:lastPrinted>2019-10-01T05:36:23Z</cp:lastPrinted>
  <dcterms:created xsi:type="dcterms:W3CDTF">2011-08-23T09:33:59Z</dcterms:created>
  <dcterms:modified xsi:type="dcterms:W3CDTF">2026-07-06T02:14:36Z</dcterms:modified>
</cp:coreProperties>
</file>